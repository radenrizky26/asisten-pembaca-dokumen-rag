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10287000" cx="18288000"/>
  <p:notesSz cx="6858000" cy="9144000"/>
  <p:embeddedFontLst>
    <p:embeddedFont>
      <p:font typeface="Play"/>
      <p:regular r:id="rId17"/>
      <p:bold r:id="rId18"/>
    </p:embeddedFont>
    <p:embeddedFont>
      <p:font typeface="Public Sans"/>
      <p:bold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1" roundtripDataSignature="AMtx7mjVkwFT31cgtBEImMy538hNNRQ6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ublicSans-boldItalic.fntdata"/><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lay-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PublicSans-bold.fntdata"/><Relationship Id="rId6" Type="http://schemas.openxmlformats.org/officeDocument/2006/relationships/slide" Target="slides/slide1.xml"/><Relationship Id="rId18" Type="http://schemas.openxmlformats.org/officeDocument/2006/relationships/font" Target="fonts/Play-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1"/>
          <p:cNvSpPr/>
          <p:nvPr>
            <p:ph idx="2" type="pic"/>
          </p:nvPr>
        </p:nvSpPr>
        <p:spPr>
          <a:xfrm>
            <a:off x="1792288" y="612775"/>
            <a:ext cx="5486400" cy="4114800"/>
          </a:xfrm>
          <a:prstGeom prst="rect">
            <a:avLst/>
          </a:prstGeom>
          <a:noFill/>
          <a:ln>
            <a:noFill/>
          </a:ln>
        </p:spPr>
      </p:sp>
      <p:sp>
        <p:nvSpPr>
          <p:cNvPr id="64" name="Google Shape;64;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4"/>
        </a:solidFill>
      </p:bgPr>
    </p:bg>
    <p:spTree>
      <p:nvGrpSpPr>
        <p:cNvPr id="83" name="Shape 83"/>
        <p:cNvGrpSpPr/>
        <p:nvPr/>
      </p:nvGrpSpPr>
      <p:grpSpPr>
        <a:xfrm>
          <a:off x="0" y="0"/>
          <a:ext cx="0" cy="0"/>
          <a:chOff x="0" y="0"/>
          <a:chExt cx="0" cy="0"/>
        </a:xfrm>
      </p:grpSpPr>
      <p:cxnSp>
        <p:nvCxnSpPr>
          <p:cNvPr id="84" name="Google Shape;84;p1"/>
          <p:cNvCxnSpPr/>
          <p:nvPr/>
        </p:nvCxnSpPr>
        <p:spPr>
          <a:xfrm>
            <a:off x="1028700" y="1751768"/>
            <a:ext cx="16230600" cy="0"/>
          </a:xfrm>
          <a:prstGeom prst="straightConnector1">
            <a:avLst/>
          </a:prstGeom>
          <a:noFill/>
          <a:ln cap="flat" cmpd="sng" w="28575">
            <a:solidFill>
              <a:srgbClr val="333333"/>
            </a:solidFill>
            <a:prstDash val="solid"/>
            <a:round/>
            <a:headEnd len="sm" w="sm" type="none"/>
            <a:tailEnd len="sm" w="sm" type="none"/>
          </a:ln>
        </p:spPr>
      </p:cxnSp>
      <p:sp>
        <p:nvSpPr>
          <p:cNvPr id="85" name="Google Shape;85;p1"/>
          <p:cNvSpPr txBox="1"/>
          <p:nvPr/>
        </p:nvSpPr>
        <p:spPr>
          <a:xfrm>
            <a:off x="1028700" y="3005009"/>
            <a:ext cx="13919249" cy="377063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1" lang="en-US" sz="13400" u="none" cap="none" strike="noStrike">
                <a:solidFill>
                  <a:srgbClr val="333333"/>
                </a:solidFill>
                <a:latin typeface="Play"/>
                <a:ea typeface="Play"/>
                <a:cs typeface="Play"/>
                <a:sym typeface="Play"/>
              </a:rPr>
              <a:t>Analisis TRAM, TRI, dan TAM</a:t>
            </a:r>
            <a:endParaRPr/>
          </a:p>
        </p:txBody>
      </p:sp>
      <p:sp>
        <p:nvSpPr>
          <p:cNvPr id="86" name="Google Shape;86;p1"/>
          <p:cNvSpPr txBox="1"/>
          <p:nvPr/>
        </p:nvSpPr>
        <p:spPr>
          <a:xfrm>
            <a:off x="1028700" y="971550"/>
            <a:ext cx="5036818" cy="431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Program Praktik Industri  ‘23</a:t>
            </a:r>
            <a:endParaRPr/>
          </a:p>
        </p:txBody>
      </p:sp>
      <p:sp>
        <p:nvSpPr>
          <p:cNvPr id="87" name="Google Shape;87;p1"/>
          <p:cNvSpPr txBox="1"/>
          <p:nvPr/>
        </p:nvSpPr>
        <p:spPr>
          <a:xfrm>
            <a:off x="12222482" y="971550"/>
            <a:ext cx="5036818" cy="4318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POLMAN Bandung</a:t>
            </a:r>
            <a:endParaRPr/>
          </a:p>
        </p:txBody>
      </p:sp>
      <p:sp>
        <p:nvSpPr>
          <p:cNvPr id="88" name="Google Shape;88;p1"/>
          <p:cNvSpPr txBox="1"/>
          <p:nvPr/>
        </p:nvSpPr>
        <p:spPr>
          <a:xfrm>
            <a:off x="12222482" y="7389931"/>
            <a:ext cx="5036818" cy="4318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None/>
            </a:pPr>
            <a:r>
              <a:rPr b="0" i="0" lang="en-US" sz="2499" u="none" cap="none" strike="noStrike">
                <a:solidFill>
                  <a:srgbClr val="333333"/>
                </a:solidFill>
                <a:latin typeface="Public Sans"/>
                <a:ea typeface="Public Sans"/>
                <a:cs typeface="Public Sans"/>
                <a:sym typeface="Public Sans"/>
              </a:rPr>
              <a:t>Presented by</a:t>
            </a:r>
            <a:endParaRPr/>
          </a:p>
        </p:txBody>
      </p:sp>
      <p:sp>
        <p:nvSpPr>
          <p:cNvPr id="89" name="Google Shape;89;p1"/>
          <p:cNvSpPr txBox="1"/>
          <p:nvPr/>
        </p:nvSpPr>
        <p:spPr>
          <a:xfrm>
            <a:off x="11444931" y="7941366"/>
            <a:ext cx="5814369" cy="41529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b="1" i="0" lang="en-US" sz="2400" u="none" cap="none" strike="noStrike">
                <a:solidFill>
                  <a:srgbClr val="333333"/>
                </a:solidFill>
                <a:latin typeface="Public Sans"/>
                <a:ea typeface="Public Sans"/>
                <a:cs typeface="Public Sans"/>
                <a:sym typeface="Public Sans"/>
              </a:rPr>
              <a:t>Fadel Mochamad - 223442078</a:t>
            </a:r>
            <a:endParaRPr/>
          </a:p>
        </p:txBody>
      </p:sp>
      <p:sp>
        <p:nvSpPr>
          <p:cNvPr id="90" name="Google Shape;90;p1"/>
          <p:cNvSpPr txBox="1"/>
          <p:nvPr/>
        </p:nvSpPr>
        <p:spPr>
          <a:xfrm>
            <a:off x="1028700" y="8826500"/>
            <a:ext cx="5036818" cy="431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Maret 2026</a:t>
            </a:r>
            <a:endParaRPr/>
          </a:p>
        </p:txBody>
      </p:sp>
      <p:sp>
        <p:nvSpPr>
          <p:cNvPr id="91" name="Google Shape;91;p1"/>
          <p:cNvSpPr txBox="1"/>
          <p:nvPr/>
        </p:nvSpPr>
        <p:spPr>
          <a:xfrm>
            <a:off x="11237584" y="8299506"/>
            <a:ext cx="6021716" cy="41529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b="1" i="0" lang="en-US" sz="2400" u="none" cap="none" strike="noStrike">
                <a:solidFill>
                  <a:srgbClr val="333333"/>
                </a:solidFill>
                <a:latin typeface="Public Sans"/>
                <a:ea typeface="Public Sans"/>
                <a:cs typeface="Public Sans"/>
                <a:sym typeface="Public Sans"/>
              </a:rPr>
              <a:t>Dhafin Qinthara K. - 223443053</a:t>
            </a:r>
            <a:endParaRPr/>
          </a:p>
        </p:txBody>
      </p:sp>
      <p:sp>
        <p:nvSpPr>
          <p:cNvPr id="92" name="Google Shape;92;p1"/>
          <p:cNvSpPr txBox="1"/>
          <p:nvPr/>
        </p:nvSpPr>
        <p:spPr>
          <a:xfrm>
            <a:off x="11237584" y="8657646"/>
            <a:ext cx="6021716" cy="41529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b="1" i="0" lang="en-US" sz="2400" u="none" cap="none" strike="noStrike">
                <a:solidFill>
                  <a:srgbClr val="333333"/>
                </a:solidFill>
                <a:latin typeface="Public Sans"/>
                <a:ea typeface="Public Sans"/>
                <a:cs typeface="Public Sans"/>
                <a:sym typeface="Public Sans"/>
              </a:rPr>
              <a:t>Raden Rizky Muhamad F.S. - 223443067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4"/>
        </a:solidFill>
      </p:bgPr>
    </p:bg>
    <p:spTree>
      <p:nvGrpSpPr>
        <p:cNvPr id="96" name="Shape 96"/>
        <p:cNvGrpSpPr/>
        <p:nvPr/>
      </p:nvGrpSpPr>
      <p:grpSpPr>
        <a:xfrm>
          <a:off x="0" y="0"/>
          <a:ext cx="0" cy="0"/>
          <a:chOff x="0" y="0"/>
          <a:chExt cx="0" cy="0"/>
        </a:xfrm>
      </p:grpSpPr>
      <p:sp>
        <p:nvSpPr>
          <p:cNvPr id="97" name="Google Shape;97;p2"/>
          <p:cNvSpPr txBox="1"/>
          <p:nvPr/>
        </p:nvSpPr>
        <p:spPr>
          <a:xfrm>
            <a:off x="1028700" y="971550"/>
            <a:ext cx="5036818" cy="431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Program Praktik Industri  ‘23</a:t>
            </a:r>
            <a:endParaRPr/>
          </a:p>
        </p:txBody>
      </p:sp>
      <p:sp>
        <p:nvSpPr>
          <p:cNvPr id="98" name="Google Shape;98;p2"/>
          <p:cNvSpPr txBox="1"/>
          <p:nvPr/>
        </p:nvSpPr>
        <p:spPr>
          <a:xfrm>
            <a:off x="1028700" y="2184274"/>
            <a:ext cx="10132376" cy="2717559"/>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1" lang="en-US" sz="8971" u="none" cap="none" strike="noStrike">
                <a:solidFill>
                  <a:srgbClr val="333333"/>
                </a:solidFill>
                <a:latin typeface="Play"/>
                <a:ea typeface="Play"/>
                <a:cs typeface="Play"/>
                <a:sym typeface="Play"/>
              </a:rPr>
              <a:t>Apa itu TRAM, TAM dan TRI</a:t>
            </a:r>
            <a:endParaRPr/>
          </a:p>
        </p:txBody>
      </p:sp>
      <p:sp>
        <p:nvSpPr>
          <p:cNvPr id="99" name="Google Shape;99;p2"/>
          <p:cNvSpPr txBox="1"/>
          <p:nvPr/>
        </p:nvSpPr>
        <p:spPr>
          <a:xfrm>
            <a:off x="1028700" y="5518024"/>
            <a:ext cx="16230600" cy="3928391"/>
          </a:xfrm>
          <a:prstGeom prst="rect">
            <a:avLst/>
          </a:prstGeom>
          <a:noFill/>
          <a:ln>
            <a:noFill/>
          </a:ln>
        </p:spPr>
        <p:txBody>
          <a:bodyPr anchorCtr="0" anchor="t" bIns="0" lIns="0" spcFirstLastPara="1" rIns="0" wrap="square" tIns="0">
            <a:spAutoFit/>
          </a:bodyPr>
          <a:lstStyle/>
          <a:p>
            <a:pPr indent="0" lvl="0" marL="0" marR="0" rtl="0" algn="just">
              <a:lnSpc>
                <a:spcPct val="140026"/>
              </a:lnSpc>
              <a:spcBef>
                <a:spcPts val="0"/>
              </a:spcBef>
              <a:spcAft>
                <a:spcPts val="0"/>
              </a:spcAft>
              <a:buNone/>
            </a:pPr>
            <a:r>
              <a:rPr b="1" i="0" lang="en-US" sz="2246" u="none" cap="none" strike="noStrike">
                <a:solidFill>
                  <a:srgbClr val="333333"/>
                </a:solidFill>
                <a:latin typeface="Public Sans"/>
                <a:ea typeface="Public Sans"/>
                <a:cs typeface="Public Sans"/>
                <a:sym typeface="Public Sans"/>
              </a:rPr>
              <a:t>TRI (Technology Readiness Index):</a:t>
            </a:r>
            <a:r>
              <a:rPr b="0" i="0" lang="en-US" sz="2246" u="none" cap="none" strike="noStrike">
                <a:solidFill>
                  <a:srgbClr val="333333"/>
                </a:solidFill>
                <a:latin typeface="Public Sans"/>
                <a:ea typeface="Public Sans"/>
                <a:cs typeface="Public Sans"/>
                <a:sym typeface="Public Sans"/>
              </a:rPr>
              <a:t> Instrumen psikometrik untuk mengukur kesiapan mental seseorang dalam mengadopsi teknologi baru. TRI fokus pada ciri kepribadian individu yang terbagi dalam dimensi pendorong (drivers) dan penghambat (inhibitors).</a:t>
            </a:r>
            <a:endParaRPr/>
          </a:p>
          <a:p>
            <a:pPr indent="0" lvl="0" marL="0" marR="0" rtl="0" algn="just">
              <a:lnSpc>
                <a:spcPct val="140026"/>
              </a:lnSpc>
              <a:spcBef>
                <a:spcPts val="0"/>
              </a:spcBef>
              <a:spcAft>
                <a:spcPts val="0"/>
              </a:spcAft>
              <a:buNone/>
            </a:pPr>
            <a:r>
              <a:t/>
            </a:r>
            <a:endParaRPr b="0" i="0" sz="2246" u="none" cap="none" strike="noStrike">
              <a:solidFill>
                <a:srgbClr val="333333"/>
              </a:solidFill>
              <a:latin typeface="Public Sans"/>
              <a:ea typeface="Public Sans"/>
              <a:cs typeface="Public Sans"/>
              <a:sym typeface="Public Sans"/>
            </a:endParaRPr>
          </a:p>
          <a:p>
            <a:pPr indent="0" lvl="0" marL="0" marR="0" rtl="0" algn="just">
              <a:lnSpc>
                <a:spcPct val="140026"/>
              </a:lnSpc>
              <a:spcBef>
                <a:spcPts val="0"/>
              </a:spcBef>
              <a:spcAft>
                <a:spcPts val="0"/>
              </a:spcAft>
              <a:buNone/>
            </a:pPr>
            <a:r>
              <a:rPr b="1" i="0" lang="en-US" sz="2246" u="none" cap="none" strike="noStrike">
                <a:solidFill>
                  <a:srgbClr val="333333"/>
                </a:solidFill>
                <a:latin typeface="Public Sans"/>
                <a:ea typeface="Public Sans"/>
                <a:cs typeface="Public Sans"/>
                <a:sym typeface="Public Sans"/>
              </a:rPr>
              <a:t>TAM (Technology Acceptance Model)</a:t>
            </a:r>
            <a:r>
              <a:rPr b="0" i="0" lang="en-US" sz="2246" u="none" cap="none" strike="noStrike">
                <a:solidFill>
                  <a:srgbClr val="333333"/>
                </a:solidFill>
                <a:latin typeface="Public Sans"/>
                <a:ea typeface="Public Sans"/>
                <a:cs typeface="Public Sans"/>
                <a:sym typeface="Public Sans"/>
              </a:rPr>
              <a:t>: Model yang memprediksi penerimaan teknologi berdasarkan dua keyakinan utama: Persepsi Kegunaan (Perceived Usefulness) dan Persepsi Kemudahan (Perceived Ease of Use).</a:t>
            </a:r>
            <a:endParaRPr/>
          </a:p>
          <a:p>
            <a:pPr indent="0" lvl="0" marL="0" marR="0" rtl="0" algn="just">
              <a:lnSpc>
                <a:spcPct val="140026"/>
              </a:lnSpc>
              <a:spcBef>
                <a:spcPts val="0"/>
              </a:spcBef>
              <a:spcAft>
                <a:spcPts val="0"/>
              </a:spcAft>
              <a:buNone/>
            </a:pPr>
            <a:r>
              <a:t/>
            </a:r>
            <a:endParaRPr b="0" i="0" sz="2246" u="none" cap="none" strike="noStrike">
              <a:solidFill>
                <a:srgbClr val="333333"/>
              </a:solidFill>
              <a:latin typeface="Public Sans"/>
              <a:ea typeface="Public Sans"/>
              <a:cs typeface="Public Sans"/>
              <a:sym typeface="Public Sans"/>
            </a:endParaRPr>
          </a:p>
          <a:p>
            <a:pPr indent="0" lvl="0" marL="0" marR="0" rtl="0" algn="just">
              <a:lnSpc>
                <a:spcPct val="140026"/>
              </a:lnSpc>
              <a:spcBef>
                <a:spcPts val="0"/>
              </a:spcBef>
              <a:spcAft>
                <a:spcPts val="0"/>
              </a:spcAft>
              <a:buNone/>
            </a:pPr>
            <a:r>
              <a:rPr b="1" i="0" lang="en-US" sz="2246" u="none" cap="none" strike="noStrike">
                <a:solidFill>
                  <a:srgbClr val="333333"/>
                </a:solidFill>
                <a:latin typeface="Public Sans"/>
                <a:ea typeface="Public Sans"/>
                <a:cs typeface="Public Sans"/>
                <a:sym typeface="Public Sans"/>
              </a:rPr>
              <a:t>TRAM (Technology Readiness and Acceptance Model)</a:t>
            </a:r>
            <a:r>
              <a:rPr b="0" i="0" lang="en-US" sz="2246" u="none" cap="none" strike="noStrike">
                <a:solidFill>
                  <a:srgbClr val="333333"/>
                </a:solidFill>
                <a:latin typeface="Public Sans"/>
                <a:ea typeface="Public Sans"/>
                <a:cs typeface="Public Sans"/>
                <a:sym typeface="Public Sans"/>
              </a:rPr>
              <a:t>: Model integrasi yang menjelaskan bahwa kesiapan mental individu (TRI) merupakan pendahulu (antecedent) yang menentukan cara mereka menilai kegunaan dan kemudahan suatu sistem (TAM).</a:t>
            </a:r>
            <a:endParaRPr/>
          </a:p>
        </p:txBody>
      </p:sp>
      <p:sp>
        <p:nvSpPr>
          <p:cNvPr id="100" name="Google Shape;100;p2"/>
          <p:cNvSpPr txBox="1"/>
          <p:nvPr/>
        </p:nvSpPr>
        <p:spPr>
          <a:xfrm>
            <a:off x="12222482" y="971550"/>
            <a:ext cx="5036818" cy="4318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POLMAN Bandung</a:t>
            </a:r>
            <a:endParaRPr/>
          </a:p>
        </p:txBody>
      </p:sp>
      <p:cxnSp>
        <p:nvCxnSpPr>
          <p:cNvPr id="101" name="Google Shape;101;p2"/>
          <p:cNvCxnSpPr/>
          <p:nvPr/>
        </p:nvCxnSpPr>
        <p:spPr>
          <a:xfrm>
            <a:off x="1028700" y="1751768"/>
            <a:ext cx="16230600" cy="0"/>
          </a:xfrm>
          <a:prstGeom prst="straightConnector1">
            <a:avLst/>
          </a:prstGeom>
          <a:noFill/>
          <a:ln cap="flat" cmpd="sng" w="28575">
            <a:solidFill>
              <a:srgbClr val="333333"/>
            </a:solidFill>
            <a:prstDash val="solid"/>
            <a:round/>
            <a:headEnd len="sm" w="sm" type="none"/>
            <a:tailEnd len="sm" w="sm" type="none"/>
          </a:ln>
        </p:spPr>
      </p:cxnSp>
      <p:cxnSp>
        <p:nvCxnSpPr>
          <p:cNvPr id="102" name="Google Shape;102;p2"/>
          <p:cNvCxnSpPr/>
          <p:nvPr/>
        </p:nvCxnSpPr>
        <p:spPr>
          <a:xfrm>
            <a:off x="8663155" y="4328175"/>
            <a:ext cx="3559327" cy="0"/>
          </a:xfrm>
          <a:prstGeom prst="straightConnector1">
            <a:avLst/>
          </a:prstGeom>
          <a:noFill/>
          <a:ln cap="flat" cmpd="sng" w="47625">
            <a:solidFill>
              <a:srgbClr val="333333"/>
            </a:solidFill>
            <a:prstDash val="solid"/>
            <a:round/>
            <a:headEnd len="sm" w="sm" type="none"/>
            <a:tailEnd len="med" w="med" type="stealth"/>
          </a:ln>
        </p:spPr>
      </p:cxnSp>
    </p:spTree>
  </p:cSld>
  <p:clrMapOvr>
    <a:masterClrMapping/>
  </p:clrMapOvr>
  <p:transition>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4"/>
        </a:solidFill>
      </p:bgPr>
    </p:bg>
    <p:spTree>
      <p:nvGrpSpPr>
        <p:cNvPr id="106" name="Shape 106"/>
        <p:cNvGrpSpPr/>
        <p:nvPr/>
      </p:nvGrpSpPr>
      <p:grpSpPr>
        <a:xfrm>
          <a:off x="0" y="0"/>
          <a:ext cx="0" cy="0"/>
          <a:chOff x="0" y="0"/>
          <a:chExt cx="0" cy="0"/>
        </a:xfrm>
      </p:grpSpPr>
      <p:sp>
        <p:nvSpPr>
          <p:cNvPr id="107" name="Google Shape;107;p3"/>
          <p:cNvSpPr txBox="1"/>
          <p:nvPr/>
        </p:nvSpPr>
        <p:spPr>
          <a:xfrm>
            <a:off x="1028700" y="971550"/>
            <a:ext cx="5036818" cy="431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Program Praktik Industri  ‘23</a:t>
            </a:r>
            <a:endParaRPr/>
          </a:p>
        </p:txBody>
      </p:sp>
      <p:sp>
        <p:nvSpPr>
          <p:cNvPr id="108" name="Google Shape;108;p3"/>
          <p:cNvSpPr txBox="1"/>
          <p:nvPr/>
        </p:nvSpPr>
        <p:spPr>
          <a:xfrm>
            <a:off x="1028700" y="2378453"/>
            <a:ext cx="11293394" cy="13049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1" lang="en-US" sz="8500" u="none" cap="none" strike="noStrike">
                <a:solidFill>
                  <a:srgbClr val="333333"/>
                </a:solidFill>
                <a:latin typeface="Play"/>
                <a:ea typeface="Play"/>
                <a:cs typeface="Play"/>
                <a:sym typeface="Play"/>
              </a:rPr>
              <a:t>Fungsi dan Kegunaan</a:t>
            </a:r>
            <a:endParaRPr/>
          </a:p>
        </p:txBody>
      </p:sp>
      <p:sp>
        <p:nvSpPr>
          <p:cNvPr id="109" name="Google Shape;109;p3"/>
          <p:cNvSpPr txBox="1"/>
          <p:nvPr/>
        </p:nvSpPr>
        <p:spPr>
          <a:xfrm>
            <a:off x="1028700" y="7174208"/>
            <a:ext cx="4812313" cy="174625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333333"/>
                </a:solidFill>
                <a:latin typeface="Public Sans"/>
                <a:ea typeface="Public Sans"/>
                <a:cs typeface="Public Sans"/>
                <a:sym typeface="Public Sans"/>
              </a:rPr>
              <a:t>Fungsi utamanya adalah untuk memetakan karakteristik psikologis ibu-ibu sebelum berinteraksi dengan mesin.</a:t>
            </a:r>
            <a:endParaRPr/>
          </a:p>
        </p:txBody>
      </p:sp>
      <p:sp>
        <p:nvSpPr>
          <p:cNvPr id="110" name="Google Shape;110;p3"/>
          <p:cNvSpPr txBox="1"/>
          <p:nvPr/>
        </p:nvSpPr>
        <p:spPr>
          <a:xfrm>
            <a:off x="6737843" y="7174208"/>
            <a:ext cx="4812313" cy="174625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333333"/>
                </a:solidFill>
                <a:latin typeface="Public Sans"/>
                <a:ea typeface="Public Sans"/>
                <a:cs typeface="Public Sans"/>
                <a:sym typeface="Public Sans"/>
              </a:rPr>
              <a:t>Fungsi utamanya adalah untuk mengukur kualitas alat tersebut di mata pengguna setelah mereka mencobanya.</a:t>
            </a:r>
            <a:endParaRPr/>
          </a:p>
        </p:txBody>
      </p:sp>
      <p:sp>
        <p:nvSpPr>
          <p:cNvPr id="111" name="Google Shape;111;p3"/>
          <p:cNvSpPr txBox="1"/>
          <p:nvPr/>
        </p:nvSpPr>
        <p:spPr>
          <a:xfrm>
            <a:off x="12445507" y="7612358"/>
            <a:ext cx="4812313" cy="13081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333333"/>
                </a:solidFill>
                <a:latin typeface="Public Sans"/>
                <a:ea typeface="Public Sans"/>
                <a:cs typeface="Public Sans"/>
                <a:sym typeface="Public Sans"/>
              </a:rPr>
              <a:t>Fungsi utamanya adalah untuk melihat hubungan sebab-akibat secara menyeluruh (integratif).</a:t>
            </a:r>
            <a:endParaRPr/>
          </a:p>
        </p:txBody>
      </p:sp>
      <p:sp>
        <p:nvSpPr>
          <p:cNvPr id="112" name="Google Shape;112;p3"/>
          <p:cNvSpPr txBox="1"/>
          <p:nvPr/>
        </p:nvSpPr>
        <p:spPr>
          <a:xfrm>
            <a:off x="1030180" y="5326358"/>
            <a:ext cx="4812313" cy="15525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400" u="none" cap="none" strike="noStrike">
                <a:solidFill>
                  <a:srgbClr val="333333"/>
                </a:solidFill>
                <a:latin typeface="Public Sans"/>
                <a:ea typeface="Public Sans"/>
                <a:cs typeface="Public Sans"/>
                <a:sym typeface="Public Sans"/>
              </a:rPr>
              <a:t>Fungsi TRI (Technology Readiness Index)</a:t>
            </a:r>
            <a:endParaRPr/>
          </a:p>
        </p:txBody>
      </p:sp>
      <p:sp>
        <p:nvSpPr>
          <p:cNvPr id="113" name="Google Shape;113;p3"/>
          <p:cNvSpPr txBox="1"/>
          <p:nvPr/>
        </p:nvSpPr>
        <p:spPr>
          <a:xfrm>
            <a:off x="6737843" y="5326358"/>
            <a:ext cx="4812313" cy="155257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3399" u="none" cap="none" strike="noStrike">
                <a:solidFill>
                  <a:srgbClr val="333333"/>
                </a:solidFill>
                <a:latin typeface="Public Sans"/>
                <a:ea typeface="Public Sans"/>
                <a:cs typeface="Public Sans"/>
                <a:sym typeface="Public Sans"/>
              </a:rPr>
              <a:t>Fungsi TAM (Technology Acceptance Model)</a:t>
            </a:r>
            <a:endParaRPr/>
          </a:p>
        </p:txBody>
      </p:sp>
      <p:sp>
        <p:nvSpPr>
          <p:cNvPr id="114" name="Google Shape;114;p3"/>
          <p:cNvSpPr txBox="1"/>
          <p:nvPr/>
        </p:nvSpPr>
        <p:spPr>
          <a:xfrm>
            <a:off x="12446987" y="5326358"/>
            <a:ext cx="4812313" cy="206692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3399" u="none" cap="none" strike="noStrike">
                <a:solidFill>
                  <a:srgbClr val="333333"/>
                </a:solidFill>
                <a:latin typeface="Public Sans"/>
                <a:ea typeface="Public Sans"/>
                <a:cs typeface="Public Sans"/>
                <a:sym typeface="Public Sans"/>
              </a:rPr>
              <a:t>Fungsi TRAM (Technology Readiness and Acceptance Model)</a:t>
            </a:r>
            <a:endParaRPr/>
          </a:p>
        </p:txBody>
      </p:sp>
      <p:sp>
        <p:nvSpPr>
          <p:cNvPr id="115" name="Google Shape;115;p3"/>
          <p:cNvSpPr txBox="1"/>
          <p:nvPr/>
        </p:nvSpPr>
        <p:spPr>
          <a:xfrm>
            <a:off x="12222482" y="971550"/>
            <a:ext cx="5036818" cy="4318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POLMAN Bandung</a:t>
            </a:r>
            <a:endParaRPr/>
          </a:p>
        </p:txBody>
      </p:sp>
      <p:cxnSp>
        <p:nvCxnSpPr>
          <p:cNvPr id="116" name="Google Shape;116;p3"/>
          <p:cNvCxnSpPr/>
          <p:nvPr/>
        </p:nvCxnSpPr>
        <p:spPr>
          <a:xfrm>
            <a:off x="1028700" y="1751768"/>
            <a:ext cx="16230600" cy="0"/>
          </a:xfrm>
          <a:prstGeom prst="straightConnector1">
            <a:avLst/>
          </a:prstGeom>
          <a:noFill/>
          <a:ln cap="flat" cmpd="sng" w="28575">
            <a:solidFill>
              <a:srgbClr val="333333"/>
            </a:solidFill>
            <a:prstDash val="solid"/>
            <a:round/>
            <a:headEnd len="sm" w="sm" type="none"/>
            <a:tailEnd len="sm" w="sm" type="none"/>
          </a:ln>
        </p:spPr>
      </p:cxnSp>
      <p:cxnSp>
        <p:nvCxnSpPr>
          <p:cNvPr id="117" name="Google Shape;117;p3"/>
          <p:cNvCxnSpPr/>
          <p:nvPr/>
        </p:nvCxnSpPr>
        <p:spPr>
          <a:xfrm>
            <a:off x="12222482" y="3059490"/>
            <a:ext cx="3559327" cy="0"/>
          </a:xfrm>
          <a:prstGeom prst="straightConnector1">
            <a:avLst/>
          </a:prstGeom>
          <a:noFill/>
          <a:ln cap="flat" cmpd="sng" w="47625">
            <a:solidFill>
              <a:srgbClr val="333333"/>
            </a:solidFill>
            <a:prstDash val="solid"/>
            <a:round/>
            <a:headEnd len="sm" w="sm" type="none"/>
            <a:tailEnd len="med" w="med" type="stealth"/>
          </a:ln>
        </p:spPr>
      </p:cxn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4"/>
        </a:solidFill>
      </p:bgPr>
    </p:bg>
    <p:spTree>
      <p:nvGrpSpPr>
        <p:cNvPr id="121" name="Shape 121"/>
        <p:cNvGrpSpPr/>
        <p:nvPr/>
      </p:nvGrpSpPr>
      <p:grpSpPr>
        <a:xfrm>
          <a:off x="0" y="0"/>
          <a:ext cx="0" cy="0"/>
          <a:chOff x="0" y="0"/>
          <a:chExt cx="0" cy="0"/>
        </a:xfrm>
      </p:grpSpPr>
      <p:sp>
        <p:nvSpPr>
          <p:cNvPr id="122" name="Google Shape;122;p4"/>
          <p:cNvSpPr txBox="1"/>
          <p:nvPr/>
        </p:nvSpPr>
        <p:spPr>
          <a:xfrm>
            <a:off x="1028700" y="2123243"/>
            <a:ext cx="8113767" cy="12477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100" u="none" cap="none" strike="noStrike">
                <a:solidFill>
                  <a:srgbClr val="333333"/>
                </a:solidFill>
                <a:latin typeface="Play"/>
                <a:ea typeface="Play"/>
                <a:cs typeface="Play"/>
                <a:sym typeface="Play"/>
              </a:rPr>
              <a:t>Langkah-Langkah Penggunaan &amp; Validasi Lapangan</a:t>
            </a:r>
            <a:endParaRPr/>
          </a:p>
        </p:txBody>
      </p:sp>
      <p:grpSp>
        <p:nvGrpSpPr>
          <p:cNvPr id="123" name="Google Shape;123;p4"/>
          <p:cNvGrpSpPr/>
          <p:nvPr/>
        </p:nvGrpSpPr>
        <p:grpSpPr>
          <a:xfrm>
            <a:off x="1028700" y="3680026"/>
            <a:ext cx="7120533" cy="2044207"/>
            <a:chOff x="0" y="-66675"/>
            <a:chExt cx="9494044" cy="2725611"/>
          </a:xfrm>
        </p:grpSpPr>
        <p:sp>
          <p:nvSpPr>
            <p:cNvPr id="124" name="Google Shape;124;p4"/>
            <p:cNvSpPr txBox="1"/>
            <p:nvPr/>
          </p:nvSpPr>
          <p:spPr>
            <a:xfrm>
              <a:off x="0" y="933853"/>
              <a:ext cx="9494044" cy="1725083"/>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333333"/>
                  </a:solidFill>
                  <a:latin typeface="Public Sans"/>
                  <a:ea typeface="Public Sans"/>
                  <a:cs typeface="Public Sans"/>
                  <a:sym typeface="Public Sans"/>
                </a:rPr>
                <a:t>Lakukan wawancara verbal untuk mengukur persepsi awal terhadap keberadaan mesin sebelum alat tersebut dioperasikan.</a:t>
              </a:r>
              <a:endParaRPr/>
            </a:p>
          </p:txBody>
        </p:sp>
        <p:sp>
          <p:nvSpPr>
            <p:cNvPr id="125" name="Google Shape;125;p4"/>
            <p:cNvSpPr txBox="1"/>
            <p:nvPr/>
          </p:nvSpPr>
          <p:spPr>
            <a:xfrm>
              <a:off x="0" y="-66675"/>
              <a:ext cx="9494044" cy="663576"/>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1" i="0" lang="en-US" sz="2999" u="none" cap="none" strike="noStrike">
                  <a:solidFill>
                    <a:srgbClr val="333333"/>
                  </a:solidFill>
                  <a:latin typeface="Public Sans"/>
                  <a:ea typeface="Public Sans"/>
                  <a:cs typeface="Public Sans"/>
                  <a:sym typeface="Public Sans"/>
                </a:rPr>
                <a:t>Tahap Asesmen Awal (Ukur TRI)</a:t>
              </a:r>
              <a:endParaRPr/>
            </a:p>
          </p:txBody>
        </p:sp>
        <p:cxnSp>
          <p:nvCxnSpPr>
            <p:cNvPr id="126" name="Google Shape;126;p4"/>
            <p:cNvCxnSpPr/>
            <p:nvPr/>
          </p:nvCxnSpPr>
          <p:spPr>
            <a:xfrm>
              <a:off x="0" y="775103"/>
              <a:ext cx="9494044" cy="0"/>
            </a:xfrm>
            <a:prstGeom prst="straightConnector1">
              <a:avLst/>
            </a:prstGeom>
            <a:noFill/>
            <a:ln cap="flat" cmpd="sng" w="38100">
              <a:solidFill>
                <a:srgbClr val="333333"/>
              </a:solidFill>
              <a:prstDash val="solid"/>
              <a:round/>
              <a:headEnd len="sm" w="sm" type="none"/>
              <a:tailEnd len="sm" w="sm" type="none"/>
            </a:ln>
          </p:spPr>
        </p:cxnSp>
      </p:grpSp>
      <p:grpSp>
        <p:nvGrpSpPr>
          <p:cNvPr id="127" name="Google Shape;127;p4"/>
          <p:cNvGrpSpPr/>
          <p:nvPr/>
        </p:nvGrpSpPr>
        <p:grpSpPr>
          <a:xfrm>
            <a:off x="1028700" y="6417694"/>
            <a:ext cx="7120533" cy="2482357"/>
            <a:chOff x="0" y="-66675"/>
            <a:chExt cx="9494044" cy="3309811"/>
          </a:xfrm>
        </p:grpSpPr>
        <p:sp>
          <p:nvSpPr>
            <p:cNvPr id="128" name="Google Shape;128;p4"/>
            <p:cNvSpPr txBox="1"/>
            <p:nvPr/>
          </p:nvSpPr>
          <p:spPr>
            <a:xfrm>
              <a:off x="0" y="933853"/>
              <a:ext cx="9494044" cy="2309283"/>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333333"/>
                  </a:solidFill>
                  <a:latin typeface="Public Sans"/>
                  <a:ea typeface="Public Sans"/>
                  <a:cs typeface="Public Sans"/>
                  <a:sym typeface="Public Sans"/>
                </a:rPr>
                <a:t>Demonstrasikan cara kerja bagaimana cara menyalakan mesin, lalu instruksikan operator untuk mereplikasi pengoperasian tersebut secara langsung.</a:t>
              </a:r>
              <a:endParaRPr/>
            </a:p>
          </p:txBody>
        </p:sp>
        <p:sp>
          <p:nvSpPr>
            <p:cNvPr id="129" name="Google Shape;129;p4"/>
            <p:cNvSpPr txBox="1"/>
            <p:nvPr/>
          </p:nvSpPr>
          <p:spPr>
            <a:xfrm>
              <a:off x="0" y="-66675"/>
              <a:ext cx="9494044" cy="663576"/>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1" i="0" lang="en-US" sz="2999" u="none" cap="none" strike="noStrike">
                  <a:solidFill>
                    <a:srgbClr val="333333"/>
                  </a:solidFill>
                  <a:latin typeface="Public Sans"/>
                  <a:ea typeface="Public Sans"/>
                  <a:cs typeface="Public Sans"/>
                  <a:sym typeface="Public Sans"/>
                </a:rPr>
                <a:t>Tahap Intervensi Fungsional (Demo)</a:t>
              </a:r>
              <a:endParaRPr/>
            </a:p>
          </p:txBody>
        </p:sp>
        <p:cxnSp>
          <p:nvCxnSpPr>
            <p:cNvPr id="130" name="Google Shape;130;p4"/>
            <p:cNvCxnSpPr/>
            <p:nvPr/>
          </p:nvCxnSpPr>
          <p:spPr>
            <a:xfrm>
              <a:off x="0" y="793751"/>
              <a:ext cx="9494044" cy="0"/>
            </a:xfrm>
            <a:prstGeom prst="straightConnector1">
              <a:avLst/>
            </a:prstGeom>
            <a:noFill/>
            <a:ln cap="flat" cmpd="sng" w="38100">
              <a:solidFill>
                <a:srgbClr val="333333"/>
              </a:solidFill>
              <a:prstDash val="solid"/>
              <a:round/>
              <a:headEnd len="sm" w="sm" type="none"/>
              <a:tailEnd len="sm" w="sm" type="none"/>
            </a:ln>
          </p:spPr>
        </p:cxnSp>
      </p:grpSp>
      <p:grpSp>
        <p:nvGrpSpPr>
          <p:cNvPr id="131" name="Google Shape;131;p4"/>
          <p:cNvGrpSpPr/>
          <p:nvPr/>
        </p:nvGrpSpPr>
        <p:grpSpPr>
          <a:xfrm>
            <a:off x="9979140" y="3680026"/>
            <a:ext cx="7120533" cy="2482357"/>
            <a:chOff x="0" y="-66675"/>
            <a:chExt cx="9494044" cy="3309811"/>
          </a:xfrm>
        </p:grpSpPr>
        <p:sp>
          <p:nvSpPr>
            <p:cNvPr id="132" name="Google Shape;132;p4"/>
            <p:cNvSpPr txBox="1"/>
            <p:nvPr/>
          </p:nvSpPr>
          <p:spPr>
            <a:xfrm>
              <a:off x="0" y="933853"/>
              <a:ext cx="9494044" cy="2309283"/>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333333"/>
                  </a:solidFill>
                  <a:latin typeface="Public Sans"/>
                  <a:ea typeface="Public Sans"/>
                  <a:cs typeface="Public Sans"/>
                  <a:sym typeface="Public Sans"/>
                </a:rPr>
                <a:t>Catat respons fisik dan kognitif mereka pasca-penggunaan, kemudian ajukan pertanyaan terstruktur mengenai kendala mekanis yang dialami.</a:t>
              </a:r>
              <a:endParaRPr/>
            </a:p>
          </p:txBody>
        </p:sp>
        <p:sp>
          <p:nvSpPr>
            <p:cNvPr id="133" name="Google Shape;133;p4"/>
            <p:cNvSpPr txBox="1"/>
            <p:nvPr/>
          </p:nvSpPr>
          <p:spPr>
            <a:xfrm>
              <a:off x="0" y="-66675"/>
              <a:ext cx="9494044" cy="663576"/>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1" i="0" lang="en-US" sz="2999" u="none" cap="none" strike="noStrike">
                  <a:solidFill>
                    <a:srgbClr val="333333"/>
                  </a:solidFill>
                  <a:latin typeface="Public Sans"/>
                  <a:ea typeface="Public Sans"/>
                  <a:cs typeface="Public Sans"/>
                  <a:sym typeface="Public Sans"/>
                </a:rPr>
                <a:t>Tahap Evaluasi Sistem (Ukur TAM)</a:t>
              </a:r>
              <a:endParaRPr/>
            </a:p>
          </p:txBody>
        </p:sp>
        <p:cxnSp>
          <p:nvCxnSpPr>
            <p:cNvPr id="134" name="Google Shape;134;p4"/>
            <p:cNvCxnSpPr/>
            <p:nvPr/>
          </p:nvCxnSpPr>
          <p:spPr>
            <a:xfrm>
              <a:off x="0" y="793751"/>
              <a:ext cx="9494044" cy="0"/>
            </a:xfrm>
            <a:prstGeom prst="straightConnector1">
              <a:avLst/>
            </a:prstGeom>
            <a:noFill/>
            <a:ln cap="flat" cmpd="sng" w="38100">
              <a:solidFill>
                <a:srgbClr val="333333"/>
              </a:solidFill>
              <a:prstDash val="solid"/>
              <a:round/>
              <a:headEnd len="sm" w="sm" type="none"/>
              <a:tailEnd len="sm" w="sm" type="none"/>
            </a:ln>
          </p:spPr>
        </p:cxnSp>
      </p:grpSp>
      <p:grpSp>
        <p:nvGrpSpPr>
          <p:cNvPr id="135" name="Google Shape;135;p4"/>
          <p:cNvGrpSpPr/>
          <p:nvPr/>
        </p:nvGrpSpPr>
        <p:grpSpPr>
          <a:xfrm>
            <a:off x="9979140" y="6417694"/>
            <a:ext cx="7120533" cy="3358657"/>
            <a:chOff x="0" y="-66675"/>
            <a:chExt cx="9494044" cy="4478211"/>
          </a:xfrm>
        </p:grpSpPr>
        <p:sp>
          <p:nvSpPr>
            <p:cNvPr id="136" name="Google Shape;136;p4"/>
            <p:cNvSpPr txBox="1"/>
            <p:nvPr/>
          </p:nvSpPr>
          <p:spPr>
            <a:xfrm>
              <a:off x="0" y="933853"/>
              <a:ext cx="9494044" cy="3477683"/>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333333"/>
                  </a:solidFill>
                  <a:latin typeface="Public Sans"/>
                  <a:ea typeface="Public Sans"/>
                  <a:cs typeface="Public Sans"/>
                  <a:sym typeface="Public Sans"/>
                </a:rPr>
                <a:t>Sebelum tahapan di atas dieksekusi secara masif, lakukan validasi keterpahaman kepada 1-2 sampel operator. Tujuannya memastikan bahwa translasi istilah teknis (seperti "suhu", "kapasitas", "voltase") ke dalam dialek lokal tidak menimbulkan misinterpretasi.</a:t>
              </a:r>
              <a:endParaRPr/>
            </a:p>
          </p:txBody>
        </p:sp>
        <p:sp>
          <p:nvSpPr>
            <p:cNvPr id="137" name="Google Shape;137;p4"/>
            <p:cNvSpPr txBox="1"/>
            <p:nvPr/>
          </p:nvSpPr>
          <p:spPr>
            <a:xfrm>
              <a:off x="0" y="-66675"/>
              <a:ext cx="9494044" cy="663576"/>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1" i="0" lang="en-US" sz="2999" u="none" cap="none" strike="noStrike">
                  <a:solidFill>
                    <a:srgbClr val="333333"/>
                  </a:solidFill>
                  <a:latin typeface="Public Sans"/>
                  <a:ea typeface="Public Sans"/>
                  <a:cs typeface="Public Sans"/>
                  <a:sym typeface="Public Sans"/>
                </a:rPr>
                <a:t>Validasi Instrumen (Face Validity)</a:t>
              </a:r>
              <a:endParaRPr/>
            </a:p>
          </p:txBody>
        </p:sp>
        <p:cxnSp>
          <p:nvCxnSpPr>
            <p:cNvPr id="138" name="Google Shape;138;p4"/>
            <p:cNvCxnSpPr/>
            <p:nvPr/>
          </p:nvCxnSpPr>
          <p:spPr>
            <a:xfrm>
              <a:off x="0" y="793751"/>
              <a:ext cx="9494044" cy="0"/>
            </a:xfrm>
            <a:prstGeom prst="straightConnector1">
              <a:avLst/>
            </a:prstGeom>
            <a:noFill/>
            <a:ln cap="flat" cmpd="sng" w="38100">
              <a:solidFill>
                <a:srgbClr val="333333"/>
              </a:solidFill>
              <a:prstDash val="solid"/>
              <a:round/>
              <a:headEnd len="sm" w="sm" type="none"/>
              <a:tailEnd len="sm" w="sm" type="none"/>
            </a:ln>
          </p:spPr>
        </p:cxnSp>
      </p:grpSp>
      <p:sp>
        <p:nvSpPr>
          <p:cNvPr id="139" name="Google Shape;139;p4"/>
          <p:cNvSpPr txBox="1"/>
          <p:nvPr/>
        </p:nvSpPr>
        <p:spPr>
          <a:xfrm>
            <a:off x="1028700" y="971550"/>
            <a:ext cx="5036818" cy="431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Program Praktik Industri  ‘23</a:t>
            </a:r>
            <a:endParaRPr/>
          </a:p>
        </p:txBody>
      </p:sp>
      <p:sp>
        <p:nvSpPr>
          <p:cNvPr id="140" name="Google Shape;140;p4"/>
          <p:cNvSpPr txBox="1"/>
          <p:nvPr/>
        </p:nvSpPr>
        <p:spPr>
          <a:xfrm>
            <a:off x="12222482" y="971550"/>
            <a:ext cx="5036818" cy="4318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POLMAN Bandung</a:t>
            </a:r>
            <a:endParaRPr/>
          </a:p>
        </p:txBody>
      </p:sp>
      <p:cxnSp>
        <p:nvCxnSpPr>
          <p:cNvPr id="141" name="Google Shape;141;p4"/>
          <p:cNvCxnSpPr/>
          <p:nvPr/>
        </p:nvCxnSpPr>
        <p:spPr>
          <a:xfrm>
            <a:off x="1028700" y="1751768"/>
            <a:ext cx="16230600" cy="0"/>
          </a:xfrm>
          <a:prstGeom prst="straightConnector1">
            <a:avLst/>
          </a:prstGeom>
          <a:noFill/>
          <a:ln cap="flat" cmpd="sng" w="28575">
            <a:solidFill>
              <a:srgbClr val="333333"/>
            </a:solidFill>
            <a:prstDash val="solid"/>
            <a:round/>
            <a:headEnd len="sm" w="sm" type="none"/>
            <a:tailEnd len="sm" w="sm" type="none"/>
          </a:ln>
        </p:spPr>
      </p:cxnSp>
    </p:spTree>
  </p:cSld>
  <p:clrMapOvr>
    <a:masterClrMapping/>
  </p:clrMapOvr>
  <p:transition>
    <p:wipe dir="l"/>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4"/>
        </a:solidFill>
      </p:bgPr>
    </p:bg>
    <p:spTree>
      <p:nvGrpSpPr>
        <p:cNvPr id="145" name="Shape 145"/>
        <p:cNvGrpSpPr/>
        <p:nvPr/>
      </p:nvGrpSpPr>
      <p:grpSpPr>
        <a:xfrm>
          <a:off x="0" y="0"/>
          <a:ext cx="0" cy="0"/>
          <a:chOff x="0" y="0"/>
          <a:chExt cx="0" cy="0"/>
        </a:xfrm>
      </p:grpSpPr>
      <p:sp>
        <p:nvSpPr>
          <p:cNvPr id="146" name="Google Shape;146;p5"/>
          <p:cNvSpPr txBox="1"/>
          <p:nvPr/>
        </p:nvSpPr>
        <p:spPr>
          <a:xfrm>
            <a:off x="1028700" y="2123243"/>
            <a:ext cx="7563941" cy="8763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699" u="none" cap="none" strike="noStrike">
                <a:solidFill>
                  <a:srgbClr val="333333"/>
                </a:solidFill>
                <a:latin typeface="Play"/>
                <a:ea typeface="Play"/>
                <a:cs typeface="Play"/>
                <a:sym typeface="Play"/>
              </a:rPr>
              <a:t>Metode Pengukuran</a:t>
            </a:r>
            <a:endParaRPr/>
          </a:p>
        </p:txBody>
      </p:sp>
      <p:grpSp>
        <p:nvGrpSpPr>
          <p:cNvPr id="147" name="Google Shape;147;p5"/>
          <p:cNvGrpSpPr/>
          <p:nvPr/>
        </p:nvGrpSpPr>
        <p:grpSpPr>
          <a:xfrm>
            <a:off x="1028700" y="3682962"/>
            <a:ext cx="7776777" cy="5642753"/>
            <a:chOff x="0" y="-66675"/>
            <a:chExt cx="10369036" cy="7523671"/>
          </a:xfrm>
        </p:grpSpPr>
        <p:sp>
          <p:nvSpPr>
            <p:cNvPr id="148" name="Google Shape;148;p5"/>
            <p:cNvSpPr txBox="1"/>
            <p:nvPr/>
          </p:nvSpPr>
          <p:spPr>
            <a:xfrm>
              <a:off x="0" y="1225953"/>
              <a:ext cx="10369036" cy="6231043"/>
            </a:xfrm>
            <a:prstGeom prst="rect">
              <a:avLst/>
            </a:prstGeom>
            <a:noFill/>
            <a:ln>
              <a:noFill/>
            </a:ln>
          </p:spPr>
          <p:txBody>
            <a:bodyPr anchorCtr="0" anchor="t" bIns="0" lIns="0" spcFirstLastPara="1" rIns="0" wrap="square" tIns="0">
              <a:spAutoFit/>
            </a:bodyPr>
            <a:lstStyle/>
            <a:p>
              <a:pPr indent="-237491" lvl="1" marL="474981" marR="0" rtl="0" algn="l">
                <a:lnSpc>
                  <a:spcPct val="140000"/>
                </a:lnSpc>
                <a:spcBef>
                  <a:spcPts val="0"/>
                </a:spcBef>
                <a:spcAft>
                  <a:spcPts val="0"/>
                </a:spcAft>
                <a:buClr>
                  <a:srgbClr val="333333"/>
                </a:buClr>
                <a:buSzPts val="2200"/>
                <a:buFont typeface="Arial"/>
                <a:buChar char="•"/>
              </a:pPr>
              <a:r>
                <a:rPr b="0" i="0" lang="en-US" sz="2200" u="none" cap="none" strike="noStrike">
                  <a:solidFill>
                    <a:srgbClr val="333333"/>
                  </a:solidFill>
                  <a:latin typeface="Public Sans"/>
                  <a:ea typeface="Public Sans"/>
                  <a:cs typeface="Public Sans"/>
                  <a:sym typeface="Public Sans"/>
                </a:rPr>
                <a:t>Teori: Untuk responden di sektor pertanian/pedesaan dengan literasi terbatas, pengisian kuesioner mandiri memiliki tingkat bias dan kegagalan yang tinggi.</a:t>
              </a:r>
              <a:endParaRPr/>
            </a:p>
            <a:p>
              <a:pPr indent="0" lvl="0" marL="0" marR="0" rtl="0" algn="l">
                <a:lnSpc>
                  <a:spcPct val="140000"/>
                </a:lnSpc>
                <a:spcBef>
                  <a:spcPts val="0"/>
                </a:spcBef>
                <a:spcAft>
                  <a:spcPts val="0"/>
                </a:spcAft>
                <a:buNone/>
              </a:pPr>
              <a:r>
                <a:t/>
              </a:r>
              <a:endParaRPr b="0" i="0" sz="2200" u="none" cap="none" strike="noStrike">
                <a:solidFill>
                  <a:srgbClr val="333333"/>
                </a:solidFill>
                <a:latin typeface="Public Sans"/>
                <a:ea typeface="Public Sans"/>
                <a:cs typeface="Public Sans"/>
                <a:sym typeface="Public Sans"/>
              </a:endParaRPr>
            </a:p>
            <a:p>
              <a:pPr indent="-237491" lvl="1" marL="474981" marR="0" rtl="0" algn="l">
                <a:lnSpc>
                  <a:spcPct val="140000"/>
                </a:lnSpc>
                <a:spcBef>
                  <a:spcPts val="0"/>
                </a:spcBef>
                <a:spcAft>
                  <a:spcPts val="0"/>
                </a:spcAft>
                <a:buClr>
                  <a:srgbClr val="333333"/>
                </a:buClr>
                <a:buSzPts val="2200"/>
                <a:buFont typeface="Arial"/>
                <a:buChar char="•"/>
              </a:pPr>
              <a:r>
                <a:rPr b="0" i="0" lang="en-US" sz="2200" u="none" cap="none" strike="noStrike">
                  <a:solidFill>
                    <a:srgbClr val="333333"/>
                  </a:solidFill>
                  <a:latin typeface="Public Sans"/>
                  <a:ea typeface="Public Sans"/>
                  <a:cs typeface="Public Sans"/>
                  <a:sym typeface="Public Sans"/>
                </a:rPr>
                <a:t>Cara Mengukur: Pengukuran wajib dilakukan melalui Survei Tatap Muka (Face-to-face survey).</a:t>
              </a:r>
              <a:endParaRPr/>
            </a:p>
            <a:p>
              <a:pPr indent="0" lvl="0" marL="0" marR="0" rtl="0" algn="l">
                <a:lnSpc>
                  <a:spcPct val="140000"/>
                </a:lnSpc>
                <a:spcBef>
                  <a:spcPts val="0"/>
                </a:spcBef>
                <a:spcAft>
                  <a:spcPts val="0"/>
                </a:spcAft>
                <a:buNone/>
              </a:pPr>
              <a:r>
                <a:t/>
              </a:r>
              <a:endParaRPr b="0" i="0" sz="2200" u="none" cap="none" strike="noStrike">
                <a:solidFill>
                  <a:srgbClr val="333333"/>
                </a:solidFill>
                <a:latin typeface="Public Sans"/>
                <a:ea typeface="Public Sans"/>
                <a:cs typeface="Public Sans"/>
                <a:sym typeface="Public Sans"/>
              </a:endParaRPr>
            </a:p>
            <a:p>
              <a:pPr indent="-237491" lvl="1" marL="474981" marR="0" rtl="0" algn="l">
                <a:lnSpc>
                  <a:spcPct val="140000"/>
                </a:lnSpc>
                <a:spcBef>
                  <a:spcPts val="0"/>
                </a:spcBef>
                <a:spcAft>
                  <a:spcPts val="0"/>
                </a:spcAft>
                <a:buClr>
                  <a:srgbClr val="333333"/>
                </a:buClr>
                <a:buSzPts val="2200"/>
                <a:buFont typeface="Arial"/>
                <a:buChar char="•"/>
              </a:pPr>
              <a:r>
                <a:rPr b="0" i="0" lang="en-US" sz="2200" u="none" cap="none" strike="noStrike">
                  <a:solidFill>
                    <a:srgbClr val="333333"/>
                  </a:solidFill>
                  <a:latin typeface="Public Sans"/>
                  <a:ea typeface="Public Sans"/>
                  <a:cs typeface="Public Sans"/>
                  <a:sym typeface="Public Sans"/>
                </a:rPr>
                <a:t>Praktik di Lapangan: Anda bertindak sebagai enumerator yang membacakan indikator pertanyaan dalam bahasa Sunda lisan, sementara ibu-ibu merespons setelah mempraktikkan pengoperasian mesin.</a:t>
              </a:r>
              <a:endParaRPr/>
            </a:p>
          </p:txBody>
        </p:sp>
        <p:sp>
          <p:nvSpPr>
            <p:cNvPr id="149" name="Google Shape;149;p5"/>
            <p:cNvSpPr txBox="1"/>
            <p:nvPr/>
          </p:nvSpPr>
          <p:spPr>
            <a:xfrm>
              <a:off x="159630" y="-66675"/>
              <a:ext cx="9494044" cy="663576"/>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1" i="0" lang="en-US" sz="2999" u="none" cap="none" strike="noStrike">
                  <a:solidFill>
                    <a:srgbClr val="333333"/>
                  </a:solidFill>
                  <a:latin typeface="Public Sans"/>
                  <a:ea typeface="Public Sans"/>
                  <a:cs typeface="Public Sans"/>
                  <a:sym typeface="Public Sans"/>
                </a:rPr>
                <a:t>Metode Pengumpulan Data</a:t>
              </a:r>
              <a:endParaRPr/>
            </a:p>
          </p:txBody>
        </p:sp>
        <p:cxnSp>
          <p:nvCxnSpPr>
            <p:cNvPr id="150" name="Google Shape;150;p5"/>
            <p:cNvCxnSpPr/>
            <p:nvPr/>
          </p:nvCxnSpPr>
          <p:spPr>
            <a:xfrm>
              <a:off x="159630" y="794153"/>
              <a:ext cx="9494044" cy="0"/>
            </a:xfrm>
            <a:prstGeom prst="straightConnector1">
              <a:avLst/>
            </a:prstGeom>
            <a:noFill/>
            <a:ln cap="flat" cmpd="sng" w="38100">
              <a:solidFill>
                <a:srgbClr val="333333"/>
              </a:solidFill>
              <a:prstDash val="solid"/>
              <a:round/>
              <a:headEnd len="sm" w="sm" type="none"/>
              <a:tailEnd len="sm" w="sm" type="none"/>
            </a:ln>
          </p:spPr>
        </p:cxnSp>
      </p:grpSp>
      <p:grpSp>
        <p:nvGrpSpPr>
          <p:cNvPr id="151" name="Google Shape;151;p5"/>
          <p:cNvGrpSpPr/>
          <p:nvPr/>
        </p:nvGrpSpPr>
        <p:grpSpPr>
          <a:xfrm>
            <a:off x="9872722" y="3680026"/>
            <a:ext cx="7226952" cy="4474113"/>
            <a:chOff x="0" y="-66675"/>
            <a:chExt cx="9635935" cy="5965485"/>
          </a:xfrm>
        </p:grpSpPr>
        <p:sp>
          <p:nvSpPr>
            <p:cNvPr id="152" name="Google Shape;152;p5"/>
            <p:cNvSpPr txBox="1"/>
            <p:nvPr/>
          </p:nvSpPr>
          <p:spPr>
            <a:xfrm>
              <a:off x="0" y="1229867"/>
              <a:ext cx="9494044" cy="4668943"/>
            </a:xfrm>
            <a:prstGeom prst="rect">
              <a:avLst/>
            </a:prstGeom>
            <a:noFill/>
            <a:ln>
              <a:noFill/>
            </a:ln>
          </p:spPr>
          <p:txBody>
            <a:bodyPr anchorCtr="0" anchor="t" bIns="0" lIns="0" spcFirstLastPara="1" rIns="0" wrap="square" tIns="0">
              <a:spAutoFit/>
            </a:bodyPr>
            <a:lstStyle/>
            <a:p>
              <a:pPr indent="-237491" lvl="1" marL="474981" marR="0" rtl="0" algn="l">
                <a:lnSpc>
                  <a:spcPct val="140000"/>
                </a:lnSpc>
                <a:spcBef>
                  <a:spcPts val="0"/>
                </a:spcBef>
                <a:spcAft>
                  <a:spcPts val="0"/>
                </a:spcAft>
                <a:buClr>
                  <a:srgbClr val="333333"/>
                </a:buClr>
                <a:buSzPts val="2200"/>
                <a:buFont typeface="Arial"/>
                <a:buChar char="•"/>
              </a:pPr>
              <a:r>
                <a:rPr b="0" i="0" lang="en-US" sz="2200" u="none" cap="none" strike="noStrike">
                  <a:solidFill>
                    <a:srgbClr val="333333"/>
                  </a:solidFill>
                  <a:latin typeface="Public Sans"/>
                  <a:ea typeface="Public Sans"/>
                  <a:cs typeface="Public Sans"/>
                  <a:sym typeface="Public Sans"/>
                </a:rPr>
                <a:t>Teori: Pengukuran TRAM standar selalu menggunakan Skala Likert 5 Poin (1 = Sangat Tidak Setuju hingga 5 = Sangat Setuju).</a:t>
              </a:r>
              <a:endParaRPr/>
            </a:p>
            <a:p>
              <a:pPr indent="0" lvl="0" marL="0" marR="0" rtl="0" algn="l">
                <a:lnSpc>
                  <a:spcPct val="140000"/>
                </a:lnSpc>
                <a:spcBef>
                  <a:spcPts val="0"/>
                </a:spcBef>
                <a:spcAft>
                  <a:spcPts val="0"/>
                </a:spcAft>
                <a:buNone/>
              </a:pPr>
              <a:r>
                <a:t/>
              </a:r>
              <a:endParaRPr b="0" i="0" sz="2200" u="none" cap="none" strike="noStrike">
                <a:solidFill>
                  <a:srgbClr val="333333"/>
                </a:solidFill>
                <a:latin typeface="Public Sans"/>
                <a:ea typeface="Public Sans"/>
                <a:cs typeface="Public Sans"/>
                <a:sym typeface="Public Sans"/>
              </a:endParaRPr>
            </a:p>
            <a:p>
              <a:pPr indent="-237491" lvl="1" marL="474981" marR="0" rtl="0" algn="l">
                <a:lnSpc>
                  <a:spcPct val="140000"/>
                </a:lnSpc>
                <a:spcBef>
                  <a:spcPts val="0"/>
                </a:spcBef>
                <a:spcAft>
                  <a:spcPts val="0"/>
                </a:spcAft>
                <a:buClr>
                  <a:srgbClr val="333333"/>
                </a:buClr>
                <a:buSzPts val="2200"/>
                <a:buFont typeface="Arial"/>
                <a:buChar char="•"/>
              </a:pPr>
              <a:r>
                <a:rPr b="0" i="0" lang="en-US" sz="2200" u="none" cap="none" strike="noStrike">
                  <a:solidFill>
                    <a:srgbClr val="333333"/>
                  </a:solidFill>
                  <a:latin typeface="Public Sans"/>
                  <a:ea typeface="Public Sans"/>
                  <a:cs typeface="Public Sans"/>
                  <a:sym typeface="Public Sans"/>
                </a:rPr>
                <a:t>Praktik di Lapangan: Karena target tidak terbiasa dengan angka di atas kertas, skala 1-5 ini direpresentasikan secara fisik menggunakan alat peraga visual (misal: 5 tingkat ekspresi wajah atau 5 toples kelereng).</a:t>
              </a:r>
              <a:endParaRPr/>
            </a:p>
          </p:txBody>
        </p:sp>
        <p:sp>
          <p:nvSpPr>
            <p:cNvPr id="153" name="Google Shape;153;p5"/>
            <p:cNvSpPr txBox="1"/>
            <p:nvPr/>
          </p:nvSpPr>
          <p:spPr>
            <a:xfrm>
              <a:off x="141891" y="-66675"/>
              <a:ext cx="9494044" cy="663576"/>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1" i="0" lang="en-US" sz="2999" u="none" cap="none" strike="noStrike">
                  <a:solidFill>
                    <a:srgbClr val="333333"/>
                  </a:solidFill>
                  <a:latin typeface="Public Sans"/>
                  <a:ea typeface="Public Sans"/>
                  <a:cs typeface="Public Sans"/>
                  <a:sym typeface="Public Sans"/>
                </a:rPr>
                <a:t>Skala Pengukuran</a:t>
              </a:r>
              <a:endParaRPr/>
            </a:p>
          </p:txBody>
        </p:sp>
        <p:cxnSp>
          <p:nvCxnSpPr>
            <p:cNvPr id="154" name="Google Shape;154;p5"/>
            <p:cNvCxnSpPr/>
            <p:nvPr/>
          </p:nvCxnSpPr>
          <p:spPr>
            <a:xfrm>
              <a:off x="141891" y="793751"/>
              <a:ext cx="9494044" cy="0"/>
            </a:xfrm>
            <a:prstGeom prst="straightConnector1">
              <a:avLst/>
            </a:prstGeom>
            <a:noFill/>
            <a:ln cap="flat" cmpd="sng" w="38100">
              <a:solidFill>
                <a:srgbClr val="333333"/>
              </a:solidFill>
              <a:prstDash val="solid"/>
              <a:round/>
              <a:headEnd len="sm" w="sm" type="none"/>
              <a:tailEnd len="sm" w="sm" type="none"/>
            </a:ln>
          </p:spPr>
        </p:cxnSp>
      </p:grpSp>
      <p:sp>
        <p:nvSpPr>
          <p:cNvPr id="155" name="Google Shape;155;p5"/>
          <p:cNvSpPr txBox="1"/>
          <p:nvPr/>
        </p:nvSpPr>
        <p:spPr>
          <a:xfrm>
            <a:off x="1028700" y="971550"/>
            <a:ext cx="5036818" cy="431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Program Praktik Industri  ‘23</a:t>
            </a:r>
            <a:endParaRPr/>
          </a:p>
        </p:txBody>
      </p:sp>
      <p:sp>
        <p:nvSpPr>
          <p:cNvPr id="156" name="Google Shape;156;p5"/>
          <p:cNvSpPr txBox="1"/>
          <p:nvPr/>
        </p:nvSpPr>
        <p:spPr>
          <a:xfrm>
            <a:off x="12222482" y="971550"/>
            <a:ext cx="5036818" cy="4318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POLMAN Bandung</a:t>
            </a:r>
            <a:endParaRPr/>
          </a:p>
        </p:txBody>
      </p:sp>
      <p:cxnSp>
        <p:nvCxnSpPr>
          <p:cNvPr id="157" name="Google Shape;157;p5"/>
          <p:cNvCxnSpPr/>
          <p:nvPr/>
        </p:nvCxnSpPr>
        <p:spPr>
          <a:xfrm>
            <a:off x="1028700" y="1751768"/>
            <a:ext cx="16230600" cy="0"/>
          </a:xfrm>
          <a:prstGeom prst="straightConnector1">
            <a:avLst/>
          </a:prstGeom>
          <a:noFill/>
          <a:ln cap="flat" cmpd="sng" w="28575">
            <a:solidFill>
              <a:srgbClr val="333333"/>
            </a:solidFill>
            <a:prstDash val="solid"/>
            <a:round/>
            <a:headEnd len="sm" w="sm" type="none"/>
            <a:tailEnd len="sm" w="sm" type="none"/>
          </a:ln>
        </p:spPr>
      </p:cxnSp>
    </p:spTree>
  </p:cSld>
  <p:clrMapOvr>
    <a:masterClrMapping/>
  </p:clrMapOvr>
  <p:transition>
    <p:wipe dir="l"/>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4"/>
        </a:solidFill>
      </p:bgPr>
    </p:bg>
    <p:spTree>
      <p:nvGrpSpPr>
        <p:cNvPr id="161" name="Shape 161"/>
        <p:cNvGrpSpPr/>
        <p:nvPr/>
      </p:nvGrpSpPr>
      <p:grpSpPr>
        <a:xfrm>
          <a:off x="0" y="0"/>
          <a:ext cx="0" cy="0"/>
          <a:chOff x="0" y="0"/>
          <a:chExt cx="0" cy="0"/>
        </a:xfrm>
      </p:grpSpPr>
      <p:sp>
        <p:nvSpPr>
          <p:cNvPr id="162" name="Google Shape;162;p6"/>
          <p:cNvSpPr txBox="1"/>
          <p:nvPr/>
        </p:nvSpPr>
        <p:spPr>
          <a:xfrm>
            <a:off x="1028700" y="2123243"/>
            <a:ext cx="7563941" cy="8763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699" u="none" cap="none" strike="noStrike">
                <a:solidFill>
                  <a:srgbClr val="333333"/>
                </a:solidFill>
                <a:latin typeface="Play"/>
                <a:ea typeface="Play"/>
                <a:cs typeface="Play"/>
                <a:sym typeface="Play"/>
              </a:rPr>
              <a:t>Metode Pengukuran</a:t>
            </a:r>
            <a:endParaRPr/>
          </a:p>
        </p:txBody>
      </p:sp>
      <p:sp>
        <p:nvSpPr>
          <p:cNvPr id="163" name="Google Shape;163;p6"/>
          <p:cNvSpPr txBox="1"/>
          <p:nvPr/>
        </p:nvSpPr>
        <p:spPr>
          <a:xfrm>
            <a:off x="1148423" y="3967981"/>
            <a:ext cx="7776777" cy="507809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200" u="none" cap="none" strike="noStrike">
                <a:solidFill>
                  <a:srgbClr val="333333"/>
                </a:solidFill>
                <a:latin typeface="Public Sans"/>
                <a:ea typeface="Public Sans"/>
                <a:cs typeface="Public Sans"/>
                <a:sym typeface="Public Sans"/>
              </a:rPr>
              <a:t>Dalam menghitung indeks kesiapan (Readiness), instrumen memiliki dua sifat yang berlawanan, sehingga membutuhkan Reverse Scoring (Penilaian Terbalik):</a:t>
            </a:r>
            <a:endParaRPr/>
          </a:p>
          <a:p>
            <a:pPr indent="-237491" lvl="1" marL="474981" marR="0" rtl="0" algn="l">
              <a:lnSpc>
                <a:spcPct val="140000"/>
              </a:lnSpc>
              <a:spcBef>
                <a:spcPts val="0"/>
              </a:spcBef>
              <a:spcAft>
                <a:spcPts val="0"/>
              </a:spcAft>
              <a:buClr>
                <a:srgbClr val="333333"/>
              </a:buClr>
              <a:buSzPts val="2200"/>
              <a:buFont typeface="Public Sans"/>
              <a:buAutoNum type="arabicPeriod"/>
            </a:pPr>
            <a:r>
              <a:rPr b="0" i="0" lang="en-US" sz="2200" u="none" cap="none" strike="noStrike">
                <a:solidFill>
                  <a:srgbClr val="333333"/>
                </a:solidFill>
                <a:latin typeface="Public Sans"/>
                <a:ea typeface="Public Sans"/>
                <a:cs typeface="Public Sans"/>
                <a:sym typeface="Public Sans"/>
              </a:rPr>
              <a:t>Variabel Positif (Pendorong): Harapan (Optimism) &amp; Inovasi (Innovativeness). Skor dihitung normal (1 s.d. 5).</a:t>
            </a:r>
            <a:endParaRPr/>
          </a:p>
          <a:p>
            <a:pPr indent="-237491" lvl="1" marL="474981" marR="0" rtl="0" algn="l">
              <a:lnSpc>
                <a:spcPct val="140000"/>
              </a:lnSpc>
              <a:spcBef>
                <a:spcPts val="0"/>
              </a:spcBef>
              <a:spcAft>
                <a:spcPts val="0"/>
              </a:spcAft>
              <a:buClr>
                <a:srgbClr val="333333"/>
              </a:buClr>
              <a:buSzPts val="2200"/>
              <a:buFont typeface="Public Sans"/>
              <a:buAutoNum type="arabicPeriod"/>
            </a:pPr>
            <a:r>
              <a:rPr b="0" i="0" lang="en-US" sz="2200" u="none" cap="none" strike="noStrike">
                <a:solidFill>
                  <a:srgbClr val="333333"/>
                </a:solidFill>
                <a:latin typeface="Public Sans"/>
                <a:ea typeface="Public Sans"/>
                <a:cs typeface="Public Sans"/>
                <a:sym typeface="Public Sans"/>
              </a:rPr>
              <a:t>Variabel Negatif (Penghambat): Kebingungan (Discomfort) &amp; Ketakutan (Insecurity). Skor dibalik dengan rumus: (6 - Skor Jawaban). (Contoh: Jika ibu sangat takut oven meledak = skor 5. Maka nilainya: 6 - 5 = 1).</a:t>
            </a:r>
            <a:endParaRPr/>
          </a:p>
          <a:p>
            <a:pPr indent="0" lvl="0" marL="0" marR="0" rtl="0" algn="l">
              <a:lnSpc>
                <a:spcPct val="140000"/>
              </a:lnSpc>
              <a:spcBef>
                <a:spcPts val="0"/>
              </a:spcBef>
              <a:spcAft>
                <a:spcPts val="0"/>
              </a:spcAft>
              <a:buNone/>
            </a:pPr>
            <a:r>
              <a:rPr b="0" i="0" lang="en-US" sz="2200" u="none" cap="none" strike="noStrike">
                <a:solidFill>
                  <a:srgbClr val="333333"/>
                </a:solidFill>
                <a:latin typeface="Public Sans"/>
                <a:ea typeface="Public Sans"/>
                <a:cs typeface="Public Sans"/>
                <a:sym typeface="Public Sans"/>
              </a:rPr>
              <a:t>Rumus Total Indeks:</a:t>
            </a:r>
            <a:endParaRPr/>
          </a:p>
          <a:p>
            <a:pPr indent="0" lvl="0" marL="0" marR="0" rtl="0" algn="l">
              <a:lnSpc>
                <a:spcPct val="140000"/>
              </a:lnSpc>
              <a:spcBef>
                <a:spcPts val="0"/>
              </a:spcBef>
              <a:spcAft>
                <a:spcPts val="0"/>
              </a:spcAft>
              <a:buNone/>
            </a:pPr>
            <a:r>
              <a:rPr b="1" i="0" lang="en-US" sz="2200" u="none" cap="none" strike="noStrike">
                <a:solidFill>
                  <a:srgbClr val="333333"/>
                </a:solidFill>
                <a:latin typeface="Public Sans"/>
                <a:ea typeface="Public Sans"/>
                <a:cs typeface="Public Sans"/>
                <a:sym typeface="Public Sans"/>
              </a:rPr>
              <a:t>TRI = [ Rata-rata Opt + Rata-rata Inn + (6 - Rata-rata Dis) + (6 - Rata-rata Ins) ] / 4</a:t>
            </a:r>
            <a:endParaRPr/>
          </a:p>
        </p:txBody>
      </p:sp>
      <p:sp>
        <p:nvSpPr>
          <p:cNvPr id="164" name="Google Shape;164;p6"/>
          <p:cNvSpPr txBox="1"/>
          <p:nvPr/>
        </p:nvSpPr>
        <p:spPr>
          <a:xfrm>
            <a:off x="1148423" y="3297754"/>
            <a:ext cx="7422050" cy="431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Rumus Penghitungan Indeks (TRI)</a:t>
            </a:r>
            <a:endParaRPr/>
          </a:p>
        </p:txBody>
      </p:sp>
      <p:cxnSp>
        <p:nvCxnSpPr>
          <p:cNvPr id="165" name="Google Shape;165;p6"/>
          <p:cNvCxnSpPr/>
          <p:nvPr/>
        </p:nvCxnSpPr>
        <p:spPr>
          <a:xfrm>
            <a:off x="1148423" y="3877493"/>
            <a:ext cx="7120533" cy="0"/>
          </a:xfrm>
          <a:prstGeom prst="straightConnector1">
            <a:avLst/>
          </a:prstGeom>
          <a:noFill/>
          <a:ln cap="flat" cmpd="sng" w="28575">
            <a:solidFill>
              <a:srgbClr val="333333"/>
            </a:solidFill>
            <a:prstDash val="solid"/>
            <a:round/>
            <a:headEnd len="sm" w="sm" type="none"/>
            <a:tailEnd len="sm" w="sm" type="none"/>
          </a:ln>
        </p:spPr>
      </p:cxnSp>
      <p:sp>
        <p:nvSpPr>
          <p:cNvPr id="166" name="Google Shape;166;p6"/>
          <p:cNvSpPr txBox="1"/>
          <p:nvPr/>
        </p:nvSpPr>
        <p:spPr>
          <a:xfrm>
            <a:off x="9979140" y="4037768"/>
            <a:ext cx="7475259" cy="54686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200" u="none" cap="none" strike="noStrike">
                <a:solidFill>
                  <a:srgbClr val="333333"/>
                </a:solidFill>
                <a:latin typeface="Public Sans"/>
                <a:ea typeface="Public Sans"/>
                <a:cs typeface="Public Sans"/>
                <a:sym typeface="Public Sans"/>
              </a:rPr>
              <a:t>Berdasarkan rumus sebelumnya, nilai akhir yang didapat (skala 1.00 - 5.00) diklasifikasikan untuk menentukan strategi implementasi alat:</a:t>
            </a:r>
            <a:endParaRPr/>
          </a:p>
          <a:p>
            <a:pPr indent="0" lvl="0" marL="0" marR="0" rtl="0" algn="l">
              <a:lnSpc>
                <a:spcPct val="140000"/>
              </a:lnSpc>
              <a:spcBef>
                <a:spcPts val="0"/>
              </a:spcBef>
              <a:spcAft>
                <a:spcPts val="0"/>
              </a:spcAft>
              <a:buNone/>
            </a:pPr>
            <a:r>
              <a:t/>
            </a:r>
            <a:endParaRPr b="0" i="0" sz="2200" u="none" cap="none" strike="noStrike">
              <a:solidFill>
                <a:srgbClr val="333333"/>
              </a:solidFill>
              <a:latin typeface="Public Sans"/>
              <a:ea typeface="Public Sans"/>
              <a:cs typeface="Public Sans"/>
              <a:sym typeface="Public Sans"/>
            </a:endParaRPr>
          </a:p>
          <a:p>
            <a:pPr indent="-237491" lvl="1" marL="474981" marR="0" rtl="0" algn="l">
              <a:lnSpc>
                <a:spcPct val="140000"/>
              </a:lnSpc>
              <a:spcBef>
                <a:spcPts val="0"/>
              </a:spcBef>
              <a:spcAft>
                <a:spcPts val="0"/>
              </a:spcAft>
              <a:buClr>
                <a:srgbClr val="333333"/>
              </a:buClr>
              <a:buSzPts val="2200"/>
              <a:buFont typeface="Arial"/>
              <a:buChar char="•"/>
            </a:pPr>
            <a:r>
              <a:rPr b="0" i="0" lang="en-US" sz="2200" u="none" cap="none" strike="noStrike">
                <a:solidFill>
                  <a:srgbClr val="333333"/>
                </a:solidFill>
                <a:latin typeface="Public Sans"/>
                <a:ea typeface="Public Sans"/>
                <a:cs typeface="Public Sans"/>
                <a:sym typeface="Public Sans"/>
              </a:rPr>
              <a:t>Skor &lt; 2.89 (Kesiapan Rendah): Responden sangat cemas terhadap mesin. Solusi: Modifikasi mesin agar terlihat tidak berbahaya &amp; perbanyak edukasi K3.</a:t>
            </a:r>
            <a:endParaRPr/>
          </a:p>
          <a:p>
            <a:pPr indent="-237491" lvl="1" marL="474981" marR="0" rtl="0" algn="l">
              <a:lnSpc>
                <a:spcPct val="140000"/>
              </a:lnSpc>
              <a:spcBef>
                <a:spcPts val="0"/>
              </a:spcBef>
              <a:spcAft>
                <a:spcPts val="0"/>
              </a:spcAft>
              <a:buClr>
                <a:srgbClr val="333333"/>
              </a:buClr>
              <a:buSzPts val="2200"/>
              <a:buFont typeface="Arial"/>
              <a:buChar char="•"/>
            </a:pPr>
            <a:r>
              <a:rPr b="0" i="0" lang="en-US" sz="2200" u="none" cap="none" strike="noStrike">
                <a:solidFill>
                  <a:srgbClr val="333333"/>
                </a:solidFill>
                <a:latin typeface="Public Sans"/>
                <a:ea typeface="Public Sans"/>
                <a:cs typeface="Public Sans"/>
                <a:sym typeface="Public Sans"/>
              </a:rPr>
              <a:t>Skor 2.90 – 3.51 (Kesiapan Sedang): Responden masih ragu-ragu. Solusi: Mesin bisa beroperasi dengan syarat ada pendampingan dari teknisi/pengawas lokal.</a:t>
            </a:r>
            <a:endParaRPr/>
          </a:p>
          <a:p>
            <a:pPr indent="-237491" lvl="1" marL="474981" marR="0" rtl="0" algn="l">
              <a:lnSpc>
                <a:spcPct val="140000"/>
              </a:lnSpc>
              <a:spcBef>
                <a:spcPts val="0"/>
              </a:spcBef>
              <a:spcAft>
                <a:spcPts val="0"/>
              </a:spcAft>
              <a:buClr>
                <a:srgbClr val="333333"/>
              </a:buClr>
              <a:buSzPts val="2200"/>
              <a:buFont typeface="Arial"/>
              <a:buChar char="•"/>
            </a:pPr>
            <a:r>
              <a:rPr b="0" i="0" lang="en-US" sz="2200" u="none" cap="none" strike="noStrike">
                <a:solidFill>
                  <a:srgbClr val="333333"/>
                </a:solidFill>
                <a:latin typeface="Public Sans"/>
                <a:ea typeface="Public Sans"/>
                <a:cs typeface="Public Sans"/>
                <a:sym typeface="Public Sans"/>
              </a:rPr>
              <a:t>Skor &gt; 3.52 (Kesiapan Tinggi): Responden merasa berani dan antusias. Solusi: Mesin siap diserahterimakan penuh untuk operasional mandiri.</a:t>
            </a:r>
            <a:endParaRPr/>
          </a:p>
        </p:txBody>
      </p:sp>
      <p:sp>
        <p:nvSpPr>
          <p:cNvPr id="167" name="Google Shape;167;p6"/>
          <p:cNvSpPr txBox="1"/>
          <p:nvPr/>
        </p:nvSpPr>
        <p:spPr>
          <a:xfrm>
            <a:off x="9979140" y="3285293"/>
            <a:ext cx="7120533" cy="51435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1" i="0" lang="en-US" sz="2999" u="none" cap="none" strike="noStrike">
                <a:solidFill>
                  <a:srgbClr val="333333"/>
                </a:solidFill>
                <a:latin typeface="Public Sans"/>
                <a:ea typeface="Public Sans"/>
                <a:cs typeface="Public Sans"/>
                <a:sym typeface="Public Sans"/>
              </a:rPr>
              <a:t>Kategori Kesimpulan Pengukuran (TRI)</a:t>
            </a:r>
            <a:endParaRPr/>
          </a:p>
        </p:txBody>
      </p:sp>
      <p:cxnSp>
        <p:nvCxnSpPr>
          <p:cNvPr id="168" name="Google Shape;168;p6"/>
          <p:cNvCxnSpPr/>
          <p:nvPr/>
        </p:nvCxnSpPr>
        <p:spPr>
          <a:xfrm>
            <a:off x="9979140" y="3947281"/>
            <a:ext cx="7120533" cy="0"/>
          </a:xfrm>
          <a:prstGeom prst="straightConnector1">
            <a:avLst/>
          </a:prstGeom>
          <a:noFill/>
          <a:ln cap="flat" cmpd="sng" w="28575">
            <a:solidFill>
              <a:srgbClr val="333333"/>
            </a:solidFill>
            <a:prstDash val="solid"/>
            <a:round/>
            <a:headEnd len="sm" w="sm" type="none"/>
            <a:tailEnd len="sm" w="sm" type="none"/>
          </a:ln>
        </p:spPr>
      </p:cxnSp>
      <p:sp>
        <p:nvSpPr>
          <p:cNvPr id="169" name="Google Shape;169;p6"/>
          <p:cNvSpPr txBox="1"/>
          <p:nvPr/>
        </p:nvSpPr>
        <p:spPr>
          <a:xfrm>
            <a:off x="1028700" y="971550"/>
            <a:ext cx="5036818" cy="431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Program Praktik Industri  ‘23</a:t>
            </a:r>
            <a:endParaRPr/>
          </a:p>
        </p:txBody>
      </p:sp>
      <p:sp>
        <p:nvSpPr>
          <p:cNvPr id="170" name="Google Shape;170;p6"/>
          <p:cNvSpPr txBox="1"/>
          <p:nvPr/>
        </p:nvSpPr>
        <p:spPr>
          <a:xfrm>
            <a:off x="12222482" y="971550"/>
            <a:ext cx="5036818" cy="4318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POLMAN Bandung</a:t>
            </a:r>
            <a:endParaRPr/>
          </a:p>
        </p:txBody>
      </p:sp>
      <p:cxnSp>
        <p:nvCxnSpPr>
          <p:cNvPr id="171" name="Google Shape;171;p6"/>
          <p:cNvCxnSpPr/>
          <p:nvPr/>
        </p:nvCxnSpPr>
        <p:spPr>
          <a:xfrm>
            <a:off x="1028700" y="1751768"/>
            <a:ext cx="16230600" cy="0"/>
          </a:xfrm>
          <a:prstGeom prst="straightConnector1">
            <a:avLst/>
          </a:prstGeom>
          <a:noFill/>
          <a:ln cap="flat" cmpd="sng" w="28575">
            <a:solidFill>
              <a:srgbClr val="333333"/>
            </a:solidFill>
            <a:prstDash val="solid"/>
            <a:round/>
            <a:headEnd len="sm" w="sm" type="none"/>
            <a:tailEnd len="sm" w="sm" type="none"/>
          </a:ln>
        </p:spPr>
      </p:cxn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4"/>
        </a:solidFill>
      </p:bgPr>
    </p:bg>
    <p:spTree>
      <p:nvGrpSpPr>
        <p:cNvPr id="175" name="Shape 175"/>
        <p:cNvGrpSpPr/>
        <p:nvPr/>
      </p:nvGrpSpPr>
      <p:grpSpPr>
        <a:xfrm>
          <a:off x="0" y="0"/>
          <a:ext cx="0" cy="0"/>
          <a:chOff x="0" y="0"/>
          <a:chExt cx="0" cy="0"/>
        </a:xfrm>
      </p:grpSpPr>
      <p:sp>
        <p:nvSpPr>
          <p:cNvPr id="176" name="Google Shape;176;p7"/>
          <p:cNvSpPr txBox="1"/>
          <p:nvPr/>
        </p:nvSpPr>
        <p:spPr>
          <a:xfrm>
            <a:off x="1028700" y="2123243"/>
            <a:ext cx="7563941" cy="8763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699" u="none" cap="none" strike="noStrike">
                <a:solidFill>
                  <a:srgbClr val="333333"/>
                </a:solidFill>
                <a:latin typeface="Play"/>
                <a:ea typeface="Play"/>
                <a:cs typeface="Play"/>
                <a:sym typeface="Play"/>
              </a:rPr>
              <a:t>Metode Pengukuran</a:t>
            </a:r>
            <a:endParaRPr/>
          </a:p>
        </p:txBody>
      </p:sp>
      <p:grpSp>
        <p:nvGrpSpPr>
          <p:cNvPr id="177" name="Google Shape;177;p7"/>
          <p:cNvGrpSpPr/>
          <p:nvPr/>
        </p:nvGrpSpPr>
        <p:grpSpPr>
          <a:xfrm>
            <a:off x="5255612" y="3682962"/>
            <a:ext cx="7776777" cy="5252228"/>
            <a:chOff x="0" y="-66675"/>
            <a:chExt cx="10369036" cy="7002971"/>
          </a:xfrm>
        </p:grpSpPr>
        <p:sp>
          <p:nvSpPr>
            <p:cNvPr id="178" name="Google Shape;178;p7"/>
            <p:cNvSpPr txBox="1"/>
            <p:nvPr/>
          </p:nvSpPr>
          <p:spPr>
            <a:xfrm>
              <a:off x="0" y="1225953"/>
              <a:ext cx="10369036" cy="5710343"/>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200" u="none" cap="none" strike="noStrike">
                  <a:solidFill>
                    <a:srgbClr val="333333"/>
                  </a:solidFill>
                  <a:latin typeface="Public Sans"/>
                  <a:ea typeface="Public Sans"/>
                  <a:cs typeface="Public Sans"/>
                  <a:sym typeface="Public Sans"/>
                </a:rPr>
                <a:t>Mengukur apakah desain fisik mesin dapat diterima melalui dua parameter utama:</a:t>
              </a:r>
              <a:endParaRPr/>
            </a:p>
            <a:p>
              <a:pPr indent="0" lvl="0" marL="0" marR="0" rtl="0" algn="l">
                <a:lnSpc>
                  <a:spcPct val="140000"/>
                </a:lnSpc>
                <a:spcBef>
                  <a:spcPts val="0"/>
                </a:spcBef>
                <a:spcAft>
                  <a:spcPts val="0"/>
                </a:spcAft>
                <a:buNone/>
              </a:pPr>
              <a:r>
                <a:t/>
              </a:r>
              <a:endParaRPr b="0" i="0" sz="2200" u="none" cap="none" strike="noStrike">
                <a:solidFill>
                  <a:srgbClr val="333333"/>
                </a:solidFill>
                <a:latin typeface="Public Sans"/>
                <a:ea typeface="Public Sans"/>
                <a:cs typeface="Public Sans"/>
                <a:sym typeface="Public Sans"/>
              </a:endParaRPr>
            </a:p>
            <a:p>
              <a:pPr indent="-237491" lvl="1" marL="474981" marR="0" rtl="0" algn="l">
                <a:lnSpc>
                  <a:spcPct val="140000"/>
                </a:lnSpc>
                <a:spcBef>
                  <a:spcPts val="0"/>
                </a:spcBef>
                <a:spcAft>
                  <a:spcPts val="0"/>
                </a:spcAft>
                <a:buClr>
                  <a:srgbClr val="333333"/>
                </a:buClr>
                <a:buSzPts val="2200"/>
                <a:buFont typeface="Arial"/>
                <a:buChar char="•"/>
              </a:pPr>
              <a:r>
                <a:rPr b="0" i="0" lang="en-US" sz="2200" u="none" cap="none" strike="noStrike">
                  <a:solidFill>
                    <a:srgbClr val="333333"/>
                  </a:solidFill>
                  <a:latin typeface="Public Sans"/>
                  <a:ea typeface="Public Sans"/>
                  <a:cs typeface="Public Sans"/>
                  <a:sym typeface="Public Sans"/>
                </a:rPr>
                <a:t>Kemudahan (Perceived Ease of Use): Rata-rata skor token/kelereng saat ditanya apakah tuas pengaduk pupuk atau penyetel suhu oven mudah dikontrol.</a:t>
              </a:r>
              <a:endParaRPr/>
            </a:p>
            <a:p>
              <a:pPr indent="0" lvl="0" marL="0" marR="0" rtl="0" algn="l">
                <a:lnSpc>
                  <a:spcPct val="140000"/>
                </a:lnSpc>
                <a:spcBef>
                  <a:spcPts val="0"/>
                </a:spcBef>
                <a:spcAft>
                  <a:spcPts val="0"/>
                </a:spcAft>
                <a:buNone/>
              </a:pPr>
              <a:r>
                <a:t/>
              </a:r>
              <a:endParaRPr b="0" i="0" sz="2200" u="none" cap="none" strike="noStrike">
                <a:solidFill>
                  <a:srgbClr val="333333"/>
                </a:solidFill>
                <a:latin typeface="Public Sans"/>
                <a:ea typeface="Public Sans"/>
                <a:cs typeface="Public Sans"/>
                <a:sym typeface="Public Sans"/>
              </a:endParaRPr>
            </a:p>
            <a:p>
              <a:pPr indent="-237491" lvl="1" marL="474981" marR="0" rtl="0" algn="l">
                <a:lnSpc>
                  <a:spcPct val="140000"/>
                </a:lnSpc>
                <a:spcBef>
                  <a:spcPts val="0"/>
                </a:spcBef>
                <a:spcAft>
                  <a:spcPts val="0"/>
                </a:spcAft>
                <a:buClr>
                  <a:srgbClr val="333333"/>
                </a:buClr>
                <a:buSzPts val="2200"/>
                <a:buFont typeface="Arial"/>
                <a:buChar char="•"/>
              </a:pPr>
              <a:r>
                <a:rPr b="0" i="0" lang="en-US" sz="2200" u="none" cap="none" strike="noStrike">
                  <a:solidFill>
                    <a:srgbClr val="333333"/>
                  </a:solidFill>
                  <a:latin typeface="Public Sans"/>
                  <a:ea typeface="Public Sans"/>
                  <a:cs typeface="Public Sans"/>
                  <a:sym typeface="Public Sans"/>
                </a:rPr>
                <a:t>Kemanfaatan (Perceived Usefulness): Rata-rata skor token/kelereng saat ditanya apakah waktu pengeringan teh dan tenaga untuk mengaduk pupuk terasa jauh lebih efisien.</a:t>
              </a:r>
              <a:endParaRPr/>
            </a:p>
          </p:txBody>
        </p:sp>
        <p:sp>
          <p:nvSpPr>
            <p:cNvPr id="179" name="Google Shape;179;p7"/>
            <p:cNvSpPr txBox="1"/>
            <p:nvPr/>
          </p:nvSpPr>
          <p:spPr>
            <a:xfrm>
              <a:off x="159630" y="-66675"/>
              <a:ext cx="9494044" cy="663576"/>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1" i="0" lang="en-US" sz="2999" u="none" cap="none" strike="noStrike">
                  <a:solidFill>
                    <a:srgbClr val="333333"/>
                  </a:solidFill>
                  <a:latin typeface="Public Sans"/>
                  <a:ea typeface="Public Sans"/>
                  <a:cs typeface="Public Sans"/>
                  <a:sym typeface="Public Sans"/>
                </a:rPr>
                <a:t>Pengukuran Penerimaan Mesin (TAM)</a:t>
              </a:r>
              <a:endParaRPr/>
            </a:p>
          </p:txBody>
        </p:sp>
        <p:cxnSp>
          <p:nvCxnSpPr>
            <p:cNvPr id="180" name="Google Shape;180;p7"/>
            <p:cNvCxnSpPr/>
            <p:nvPr/>
          </p:nvCxnSpPr>
          <p:spPr>
            <a:xfrm>
              <a:off x="159630" y="794153"/>
              <a:ext cx="9494044" cy="0"/>
            </a:xfrm>
            <a:prstGeom prst="straightConnector1">
              <a:avLst/>
            </a:prstGeom>
            <a:noFill/>
            <a:ln cap="flat" cmpd="sng" w="38100">
              <a:solidFill>
                <a:srgbClr val="333333"/>
              </a:solidFill>
              <a:prstDash val="solid"/>
              <a:round/>
              <a:headEnd len="sm" w="sm" type="none"/>
              <a:tailEnd len="sm" w="sm" type="none"/>
            </a:ln>
          </p:spPr>
        </p:cxnSp>
      </p:grpSp>
      <p:sp>
        <p:nvSpPr>
          <p:cNvPr id="181" name="Google Shape;181;p7"/>
          <p:cNvSpPr txBox="1"/>
          <p:nvPr/>
        </p:nvSpPr>
        <p:spPr>
          <a:xfrm>
            <a:off x="1028700" y="971550"/>
            <a:ext cx="5036818" cy="431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Program Praktik Industri  ‘23</a:t>
            </a:r>
            <a:endParaRPr/>
          </a:p>
        </p:txBody>
      </p:sp>
      <p:sp>
        <p:nvSpPr>
          <p:cNvPr id="182" name="Google Shape;182;p7"/>
          <p:cNvSpPr txBox="1"/>
          <p:nvPr/>
        </p:nvSpPr>
        <p:spPr>
          <a:xfrm>
            <a:off x="12222482" y="971550"/>
            <a:ext cx="5036818" cy="4318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POLMAN Bandung</a:t>
            </a:r>
            <a:endParaRPr/>
          </a:p>
        </p:txBody>
      </p:sp>
      <p:cxnSp>
        <p:nvCxnSpPr>
          <p:cNvPr id="183" name="Google Shape;183;p7"/>
          <p:cNvCxnSpPr/>
          <p:nvPr/>
        </p:nvCxnSpPr>
        <p:spPr>
          <a:xfrm>
            <a:off x="1028700" y="1751768"/>
            <a:ext cx="16230600" cy="0"/>
          </a:xfrm>
          <a:prstGeom prst="straightConnector1">
            <a:avLst/>
          </a:prstGeom>
          <a:noFill/>
          <a:ln cap="flat" cmpd="sng" w="28575">
            <a:solidFill>
              <a:srgbClr val="333333"/>
            </a:solidFill>
            <a:prstDash val="solid"/>
            <a:round/>
            <a:headEnd len="sm" w="sm" type="none"/>
            <a:tailEnd len="sm" w="sm" type="none"/>
          </a:ln>
        </p:spPr>
      </p:cxnSp>
    </p:spTree>
  </p:cSld>
  <p:clrMapOvr>
    <a:masterClrMapping/>
  </p:clrMapOvr>
  <p:transition>
    <p:wipe dir="l"/>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4"/>
        </a:solidFill>
      </p:bgPr>
    </p:bg>
    <p:spTree>
      <p:nvGrpSpPr>
        <p:cNvPr id="187" name="Shape 187"/>
        <p:cNvGrpSpPr/>
        <p:nvPr/>
      </p:nvGrpSpPr>
      <p:grpSpPr>
        <a:xfrm>
          <a:off x="0" y="0"/>
          <a:ext cx="0" cy="0"/>
          <a:chOff x="0" y="0"/>
          <a:chExt cx="0" cy="0"/>
        </a:xfrm>
      </p:grpSpPr>
      <p:cxnSp>
        <p:nvCxnSpPr>
          <p:cNvPr id="188" name="Google Shape;188;p8"/>
          <p:cNvCxnSpPr/>
          <p:nvPr/>
        </p:nvCxnSpPr>
        <p:spPr>
          <a:xfrm>
            <a:off x="1028700" y="1347788"/>
            <a:ext cx="16230600" cy="0"/>
          </a:xfrm>
          <a:prstGeom prst="straightConnector1">
            <a:avLst/>
          </a:prstGeom>
          <a:noFill/>
          <a:ln cap="flat" cmpd="sng" w="28575">
            <a:solidFill>
              <a:srgbClr val="333333"/>
            </a:solidFill>
            <a:prstDash val="solid"/>
            <a:round/>
            <a:headEnd len="sm" w="sm" type="none"/>
            <a:tailEnd len="sm" w="sm" type="none"/>
          </a:ln>
        </p:spPr>
      </p:cxnSp>
      <p:sp>
        <p:nvSpPr>
          <p:cNvPr id="189" name="Google Shape;189;p8"/>
          <p:cNvSpPr txBox="1"/>
          <p:nvPr/>
        </p:nvSpPr>
        <p:spPr>
          <a:xfrm>
            <a:off x="1028700" y="685800"/>
            <a:ext cx="6257325" cy="431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Program Praktik Industri ‘23</a:t>
            </a:r>
            <a:endParaRPr/>
          </a:p>
        </p:txBody>
      </p:sp>
      <p:sp>
        <p:nvSpPr>
          <p:cNvPr id="190" name="Google Shape;190;p8"/>
          <p:cNvSpPr txBox="1"/>
          <p:nvPr/>
        </p:nvSpPr>
        <p:spPr>
          <a:xfrm>
            <a:off x="2836627" y="1533525"/>
            <a:ext cx="12328693" cy="714375"/>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333333"/>
                </a:solidFill>
                <a:latin typeface="Play"/>
                <a:ea typeface="Play"/>
                <a:cs typeface="Play"/>
                <a:sym typeface="Play"/>
              </a:rPr>
              <a:t>Penyimpulan Hasil TRAM, TRI, TAM</a:t>
            </a:r>
            <a:endParaRPr/>
          </a:p>
        </p:txBody>
      </p:sp>
      <p:grpSp>
        <p:nvGrpSpPr>
          <p:cNvPr id="191" name="Google Shape;191;p8"/>
          <p:cNvGrpSpPr/>
          <p:nvPr/>
        </p:nvGrpSpPr>
        <p:grpSpPr>
          <a:xfrm>
            <a:off x="1629121" y="2457450"/>
            <a:ext cx="6790586" cy="3358504"/>
            <a:chOff x="0" y="0"/>
            <a:chExt cx="9054114" cy="4478005"/>
          </a:xfrm>
        </p:grpSpPr>
        <p:sp>
          <p:nvSpPr>
            <p:cNvPr id="192" name="Google Shape;192;p8"/>
            <p:cNvSpPr/>
            <p:nvPr/>
          </p:nvSpPr>
          <p:spPr>
            <a:xfrm>
              <a:off x="0" y="1227114"/>
              <a:ext cx="9054114" cy="3250891"/>
            </a:xfrm>
            <a:custGeom>
              <a:rect b="b" l="l" r="r" t="t"/>
              <a:pathLst>
                <a:path extrusionOk="0" h="2335258" w="6503969">
                  <a:moveTo>
                    <a:pt x="6379509" y="59690"/>
                  </a:moveTo>
                  <a:cubicBezTo>
                    <a:pt x="6415069" y="59690"/>
                    <a:pt x="6444279" y="88900"/>
                    <a:pt x="6444279" y="124460"/>
                  </a:cubicBezTo>
                  <a:lnTo>
                    <a:pt x="6444279" y="2210798"/>
                  </a:lnTo>
                  <a:cubicBezTo>
                    <a:pt x="6444279" y="2246358"/>
                    <a:pt x="6415069" y="2275568"/>
                    <a:pt x="6379509" y="2275568"/>
                  </a:cubicBezTo>
                  <a:lnTo>
                    <a:pt x="124460" y="2275568"/>
                  </a:lnTo>
                  <a:cubicBezTo>
                    <a:pt x="88900" y="2275568"/>
                    <a:pt x="59690" y="2246358"/>
                    <a:pt x="59690" y="2210798"/>
                  </a:cubicBezTo>
                  <a:lnTo>
                    <a:pt x="59690" y="124460"/>
                  </a:lnTo>
                  <a:cubicBezTo>
                    <a:pt x="59690" y="88900"/>
                    <a:pt x="88900" y="59690"/>
                    <a:pt x="124460" y="59690"/>
                  </a:cubicBezTo>
                  <a:lnTo>
                    <a:pt x="6379509" y="59690"/>
                  </a:lnTo>
                  <a:moveTo>
                    <a:pt x="6379509" y="0"/>
                  </a:moveTo>
                  <a:lnTo>
                    <a:pt x="124460" y="0"/>
                  </a:lnTo>
                  <a:cubicBezTo>
                    <a:pt x="55880" y="0"/>
                    <a:pt x="0" y="55880"/>
                    <a:pt x="0" y="124460"/>
                  </a:cubicBezTo>
                  <a:lnTo>
                    <a:pt x="0" y="2210798"/>
                  </a:lnTo>
                  <a:cubicBezTo>
                    <a:pt x="0" y="2279378"/>
                    <a:pt x="55880" y="2335258"/>
                    <a:pt x="124460" y="2335258"/>
                  </a:cubicBezTo>
                  <a:lnTo>
                    <a:pt x="6379509" y="2335258"/>
                  </a:lnTo>
                  <a:cubicBezTo>
                    <a:pt x="6448089" y="2335258"/>
                    <a:pt x="6503969" y="2279378"/>
                    <a:pt x="6503969" y="2210798"/>
                  </a:cubicBezTo>
                  <a:lnTo>
                    <a:pt x="6503969" y="124460"/>
                  </a:lnTo>
                  <a:cubicBezTo>
                    <a:pt x="6503969" y="55880"/>
                    <a:pt x="6448089" y="0"/>
                    <a:pt x="6379509"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p:nvPr/>
          </p:nvSpPr>
          <p:spPr>
            <a:xfrm>
              <a:off x="63500" y="0"/>
              <a:ext cx="8990614" cy="956946"/>
            </a:xfrm>
            <a:custGeom>
              <a:rect b="b" l="l" r="r" t="t"/>
              <a:pathLst>
                <a:path extrusionOk="0" h="660400" w="6204530">
                  <a:moveTo>
                    <a:pt x="6080070" y="660400"/>
                  </a:moveTo>
                  <a:lnTo>
                    <a:pt x="124460" y="660400"/>
                  </a:lnTo>
                  <a:cubicBezTo>
                    <a:pt x="55880" y="660400"/>
                    <a:pt x="0" y="604520"/>
                    <a:pt x="0" y="535940"/>
                  </a:cubicBezTo>
                  <a:lnTo>
                    <a:pt x="0" y="124460"/>
                  </a:lnTo>
                  <a:cubicBezTo>
                    <a:pt x="0" y="55880"/>
                    <a:pt x="55880" y="0"/>
                    <a:pt x="124460" y="0"/>
                  </a:cubicBezTo>
                  <a:lnTo>
                    <a:pt x="6080070" y="0"/>
                  </a:lnTo>
                  <a:cubicBezTo>
                    <a:pt x="6148650" y="0"/>
                    <a:pt x="6204530" y="55880"/>
                    <a:pt x="6204530" y="124460"/>
                  </a:cubicBezTo>
                  <a:lnTo>
                    <a:pt x="6204530" y="535940"/>
                  </a:lnTo>
                  <a:cubicBezTo>
                    <a:pt x="6204530" y="604520"/>
                    <a:pt x="6148650" y="660400"/>
                    <a:pt x="6080070" y="66040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8"/>
            <p:cNvSpPr/>
            <p:nvPr/>
          </p:nvSpPr>
          <p:spPr>
            <a:xfrm>
              <a:off x="526087" y="74259"/>
              <a:ext cx="844587" cy="844587"/>
            </a:xfrm>
            <a:custGeom>
              <a:rect b="b" l="l" r="r" t="t"/>
              <a:pathLst>
                <a:path extrusionOk="0" h="844587" w="844587">
                  <a:moveTo>
                    <a:pt x="0" y="0"/>
                  </a:moveTo>
                  <a:lnTo>
                    <a:pt x="844587" y="0"/>
                  </a:lnTo>
                  <a:lnTo>
                    <a:pt x="844587" y="844587"/>
                  </a:lnTo>
                  <a:lnTo>
                    <a:pt x="0" y="844587"/>
                  </a:lnTo>
                  <a:lnTo>
                    <a:pt x="0" y="0"/>
                  </a:lnTo>
                  <a:close/>
                </a:path>
              </a:pathLst>
            </a:custGeom>
            <a:blipFill rotWithShape="1">
              <a:blip r:embed="rId3">
                <a:alphaModFix/>
              </a:blip>
              <a:stretch>
                <a:fillRect b="0" l="0" r="0" t="0"/>
              </a:stretch>
            </a:blipFill>
            <a:ln>
              <a:noFill/>
            </a:ln>
          </p:spPr>
        </p:sp>
        <p:sp>
          <p:nvSpPr>
            <p:cNvPr id="195" name="Google Shape;195;p8"/>
            <p:cNvSpPr txBox="1"/>
            <p:nvPr/>
          </p:nvSpPr>
          <p:spPr>
            <a:xfrm>
              <a:off x="1431001" y="248564"/>
              <a:ext cx="6937499" cy="459817"/>
            </a:xfrm>
            <a:prstGeom prst="rect">
              <a:avLst/>
            </a:prstGeom>
            <a:noFill/>
            <a:ln>
              <a:noFill/>
            </a:ln>
          </p:spPr>
          <p:txBody>
            <a:bodyPr anchorCtr="0" anchor="t" bIns="0" lIns="0" spcFirstLastPara="1" rIns="0" wrap="square" tIns="0">
              <a:spAutoFit/>
            </a:bodyPr>
            <a:lstStyle/>
            <a:p>
              <a:pPr indent="0" lvl="0" marL="0" marR="0" rtl="0" algn="ctr">
                <a:lnSpc>
                  <a:spcPct val="120043"/>
                </a:lnSpc>
                <a:spcBef>
                  <a:spcPts val="0"/>
                </a:spcBef>
                <a:spcAft>
                  <a:spcPts val="0"/>
                </a:spcAft>
                <a:buNone/>
              </a:pPr>
              <a:r>
                <a:rPr b="1" i="0" lang="en-US" sz="2320" u="none" cap="none" strike="noStrike">
                  <a:solidFill>
                    <a:srgbClr val="F5F5F4"/>
                  </a:solidFill>
                  <a:latin typeface="Public Sans"/>
                  <a:ea typeface="Public Sans"/>
                  <a:cs typeface="Public Sans"/>
                  <a:sym typeface="Public Sans"/>
                </a:rPr>
                <a:t>Fokus pada Signifikansi Statistik</a:t>
              </a:r>
              <a:endParaRPr/>
            </a:p>
          </p:txBody>
        </p:sp>
        <p:sp>
          <p:nvSpPr>
            <p:cNvPr id="196" name="Google Shape;196;p8"/>
            <p:cNvSpPr txBox="1"/>
            <p:nvPr/>
          </p:nvSpPr>
          <p:spPr>
            <a:xfrm>
              <a:off x="698838" y="1569695"/>
              <a:ext cx="7719938" cy="255620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35" u="none" cap="none" strike="noStrike">
                  <a:solidFill>
                    <a:srgbClr val="333333"/>
                  </a:solidFill>
                  <a:latin typeface="Public Sans"/>
                  <a:ea typeface="Public Sans"/>
                  <a:cs typeface="Public Sans"/>
                  <a:sym typeface="Public Sans"/>
                </a:rPr>
                <a:t>Kesimpulan utama ditarik dengan mengevaluasi nilai koefisien dan tingkat signifikansi (seperti p-value) sehingga kita yakin bahwa respons benar-benar mencerminkan tingkat kesiapan pengguna terhadap teknologi baru.</a:t>
              </a:r>
              <a:endParaRPr/>
            </a:p>
          </p:txBody>
        </p:sp>
      </p:grpSp>
      <p:grpSp>
        <p:nvGrpSpPr>
          <p:cNvPr id="197" name="Google Shape;197;p8"/>
          <p:cNvGrpSpPr/>
          <p:nvPr/>
        </p:nvGrpSpPr>
        <p:grpSpPr>
          <a:xfrm>
            <a:off x="9906394" y="2457450"/>
            <a:ext cx="6790587" cy="3358504"/>
            <a:chOff x="0" y="0"/>
            <a:chExt cx="9054115" cy="4478005"/>
          </a:xfrm>
        </p:grpSpPr>
        <p:sp>
          <p:nvSpPr>
            <p:cNvPr id="198" name="Google Shape;198;p8"/>
            <p:cNvSpPr/>
            <p:nvPr/>
          </p:nvSpPr>
          <p:spPr>
            <a:xfrm>
              <a:off x="0" y="1227114"/>
              <a:ext cx="9054114" cy="3250891"/>
            </a:xfrm>
            <a:custGeom>
              <a:rect b="b" l="l" r="r" t="t"/>
              <a:pathLst>
                <a:path extrusionOk="0" h="2335258" w="6503969">
                  <a:moveTo>
                    <a:pt x="6379509" y="59690"/>
                  </a:moveTo>
                  <a:cubicBezTo>
                    <a:pt x="6415069" y="59690"/>
                    <a:pt x="6444279" y="88900"/>
                    <a:pt x="6444279" y="124460"/>
                  </a:cubicBezTo>
                  <a:lnTo>
                    <a:pt x="6444279" y="2210798"/>
                  </a:lnTo>
                  <a:cubicBezTo>
                    <a:pt x="6444279" y="2246358"/>
                    <a:pt x="6415069" y="2275568"/>
                    <a:pt x="6379509" y="2275568"/>
                  </a:cubicBezTo>
                  <a:lnTo>
                    <a:pt x="124460" y="2275568"/>
                  </a:lnTo>
                  <a:cubicBezTo>
                    <a:pt x="88900" y="2275568"/>
                    <a:pt x="59690" y="2246358"/>
                    <a:pt x="59690" y="2210798"/>
                  </a:cubicBezTo>
                  <a:lnTo>
                    <a:pt x="59690" y="124460"/>
                  </a:lnTo>
                  <a:cubicBezTo>
                    <a:pt x="59690" y="88900"/>
                    <a:pt x="88900" y="59690"/>
                    <a:pt x="124460" y="59690"/>
                  </a:cubicBezTo>
                  <a:lnTo>
                    <a:pt x="6379509" y="59690"/>
                  </a:lnTo>
                  <a:moveTo>
                    <a:pt x="6379509" y="0"/>
                  </a:moveTo>
                  <a:lnTo>
                    <a:pt x="124460" y="0"/>
                  </a:lnTo>
                  <a:cubicBezTo>
                    <a:pt x="55880" y="0"/>
                    <a:pt x="0" y="55880"/>
                    <a:pt x="0" y="124460"/>
                  </a:cubicBezTo>
                  <a:lnTo>
                    <a:pt x="0" y="2210798"/>
                  </a:lnTo>
                  <a:cubicBezTo>
                    <a:pt x="0" y="2279378"/>
                    <a:pt x="55880" y="2335258"/>
                    <a:pt x="124460" y="2335258"/>
                  </a:cubicBezTo>
                  <a:lnTo>
                    <a:pt x="6379509" y="2335258"/>
                  </a:lnTo>
                  <a:cubicBezTo>
                    <a:pt x="6448089" y="2335258"/>
                    <a:pt x="6503969" y="2279378"/>
                    <a:pt x="6503969" y="2210798"/>
                  </a:cubicBezTo>
                  <a:lnTo>
                    <a:pt x="6503969" y="124460"/>
                  </a:lnTo>
                  <a:cubicBezTo>
                    <a:pt x="6503969" y="55880"/>
                    <a:pt x="6448089" y="0"/>
                    <a:pt x="6379509"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p:nvPr/>
          </p:nvSpPr>
          <p:spPr>
            <a:xfrm>
              <a:off x="87974" y="0"/>
              <a:ext cx="8966141" cy="956946"/>
            </a:xfrm>
            <a:custGeom>
              <a:rect b="b" l="l" r="r" t="t"/>
              <a:pathLst>
                <a:path extrusionOk="0" h="660400" w="6187641">
                  <a:moveTo>
                    <a:pt x="6063180" y="660400"/>
                  </a:moveTo>
                  <a:lnTo>
                    <a:pt x="124460" y="660400"/>
                  </a:lnTo>
                  <a:cubicBezTo>
                    <a:pt x="55880" y="660400"/>
                    <a:pt x="0" y="604520"/>
                    <a:pt x="0" y="535940"/>
                  </a:cubicBezTo>
                  <a:lnTo>
                    <a:pt x="0" y="124460"/>
                  </a:lnTo>
                  <a:cubicBezTo>
                    <a:pt x="0" y="55880"/>
                    <a:pt x="55880" y="0"/>
                    <a:pt x="124460" y="0"/>
                  </a:cubicBezTo>
                  <a:lnTo>
                    <a:pt x="6063181" y="0"/>
                  </a:lnTo>
                  <a:cubicBezTo>
                    <a:pt x="6131761" y="0"/>
                    <a:pt x="6187641" y="55880"/>
                    <a:pt x="6187641" y="124460"/>
                  </a:cubicBezTo>
                  <a:lnTo>
                    <a:pt x="6187641" y="535940"/>
                  </a:lnTo>
                  <a:cubicBezTo>
                    <a:pt x="6187641" y="604520"/>
                    <a:pt x="6131761" y="660400"/>
                    <a:pt x="6063181" y="66040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
            <p:cNvSpPr/>
            <p:nvPr/>
          </p:nvSpPr>
          <p:spPr>
            <a:xfrm>
              <a:off x="402280" y="43479"/>
              <a:ext cx="844587" cy="844587"/>
            </a:xfrm>
            <a:custGeom>
              <a:rect b="b" l="l" r="r" t="t"/>
              <a:pathLst>
                <a:path extrusionOk="0" h="844587" w="844587">
                  <a:moveTo>
                    <a:pt x="0" y="0"/>
                  </a:moveTo>
                  <a:lnTo>
                    <a:pt x="844588" y="0"/>
                  </a:lnTo>
                  <a:lnTo>
                    <a:pt x="844588" y="844588"/>
                  </a:lnTo>
                  <a:lnTo>
                    <a:pt x="0" y="844588"/>
                  </a:lnTo>
                  <a:lnTo>
                    <a:pt x="0" y="0"/>
                  </a:lnTo>
                  <a:close/>
                </a:path>
              </a:pathLst>
            </a:custGeom>
            <a:blipFill rotWithShape="1">
              <a:blip r:embed="rId4">
                <a:alphaModFix/>
              </a:blip>
              <a:stretch>
                <a:fillRect b="0" l="0" r="0" t="0"/>
              </a:stretch>
            </a:blipFill>
            <a:ln>
              <a:noFill/>
            </a:ln>
          </p:spPr>
        </p:sp>
        <p:sp>
          <p:nvSpPr>
            <p:cNvPr id="201" name="Google Shape;201;p8"/>
            <p:cNvSpPr txBox="1"/>
            <p:nvPr/>
          </p:nvSpPr>
          <p:spPr>
            <a:xfrm>
              <a:off x="1002374" y="223164"/>
              <a:ext cx="6123828" cy="459817"/>
            </a:xfrm>
            <a:prstGeom prst="rect">
              <a:avLst/>
            </a:prstGeom>
            <a:noFill/>
            <a:ln>
              <a:noFill/>
            </a:ln>
          </p:spPr>
          <p:txBody>
            <a:bodyPr anchorCtr="0" anchor="t" bIns="0" lIns="0" spcFirstLastPara="1" rIns="0" wrap="square" tIns="0">
              <a:spAutoFit/>
            </a:bodyPr>
            <a:lstStyle/>
            <a:p>
              <a:pPr indent="0" lvl="0" marL="0" marR="0" rtl="0" algn="ctr">
                <a:lnSpc>
                  <a:spcPct val="120043"/>
                </a:lnSpc>
                <a:spcBef>
                  <a:spcPts val="0"/>
                </a:spcBef>
                <a:spcAft>
                  <a:spcPts val="0"/>
                </a:spcAft>
                <a:buNone/>
              </a:pPr>
              <a:r>
                <a:rPr b="1" i="0" lang="en-US" sz="2320" u="none" cap="none" strike="noStrike">
                  <a:solidFill>
                    <a:srgbClr val="F5F5F4"/>
                  </a:solidFill>
                  <a:latin typeface="Public Sans"/>
                  <a:ea typeface="Public Sans"/>
                  <a:cs typeface="Public Sans"/>
                  <a:sym typeface="Public Sans"/>
                </a:rPr>
                <a:t>Penentuan Status Hipotesis</a:t>
              </a:r>
              <a:endParaRPr/>
            </a:p>
          </p:txBody>
        </p:sp>
        <p:sp>
          <p:nvSpPr>
            <p:cNvPr id="202" name="Google Shape;202;p8"/>
            <p:cNvSpPr txBox="1"/>
            <p:nvPr/>
          </p:nvSpPr>
          <p:spPr>
            <a:xfrm>
              <a:off x="553035" y="1569695"/>
              <a:ext cx="7450130" cy="213175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35" u="none" cap="none" strike="noStrike">
                  <a:solidFill>
                    <a:srgbClr val="333333"/>
                  </a:solidFill>
                  <a:latin typeface="Public Sans"/>
                  <a:ea typeface="Public Sans"/>
                  <a:cs typeface="Public Sans"/>
                  <a:sym typeface="Public Sans"/>
                </a:rPr>
                <a:t>Jika angka statistik menunjukkan korelasi yang kuat dan memenuhi batas signifikansi, maka hipotesis dinyatakan "Didukung" (Supported). Jika sebaliknya, maka "Tidak Didukung" (Not Supported).</a:t>
              </a:r>
              <a:endParaRPr/>
            </a:p>
          </p:txBody>
        </p:sp>
      </p:grpSp>
      <p:grpSp>
        <p:nvGrpSpPr>
          <p:cNvPr id="203" name="Google Shape;203;p8"/>
          <p:cNvGrpSpPr/>
          <p:nvPr/>
        </p:nvGrpSpPr>
        <p:grpSpPr>
          <a:xfrm>
            <a:off x="1676746" y="6206479"/>
            <a:ext cx="6790586" cy="3358504"/>
            <a:chOff x="0" y="0"/>
            <a:chExt cx="9054114" cy="4478005"/>
          </a:xfrm>
        </p:grpSpPr>
        <p:sp>
          <p:nvSpPr>
            <p:cNvPr id="204" name="Google Shape;204;p8"/>
            <p:cNvSpPr/>
            <p:nvPr/>
          </p:nvSpPr>
          <p:spPr>
            <a:xfrm>
              <a:off x="0" y="1227114"/>
              <a:ext cx="9054114" cy="3250891"/>
            </a:xfrm>
            <a:custGeom>
              <a:rect b="b" l="l" r="r" t="t"/>
              <a:pathLst>
                <a:path extrusionOk="0" h="2335258" w="6503969">
                  <a:moveTo>
                    <a:pt x="6379509" y="59690"/>
                  </a:moveTo>
                  <a:cubicBezTo>
                    <a:pt x="6415069" y="59690"/>
                    <a:pt x="6444279" y="88900"/>
                    <a:pt x="6444279" y="124460"/>
                  </a:cubicBezTo>
                  <a:lnTo>
                    <a:pt x="6444279" y="2210798"/>
                  </a:lnTo>
                  <a:cubicBezTo>
                    <a:pt x="6444279" y="2246358"/>
                    <a:pt x="6415069" y="2275568"/>
                    <a:pt x="6379509" y="2275568"/>
                  </a:cubicBezTo>
                  <a:lnTo>
                    <a:pt x="124460" y="2275568"/>
                  </a:lnTo>
                  <a:cubicBezTo>
                    <a:pt x="88900" y="2275568"/>
                    <a:pt x="59690" y="2246358"/>
                    <a:pt x="59690" y="2210798"/>
                  </a:cubicBezTo>
                  <a:lnTo>
                    <a:pt x="59690" y="124460"/>
                  </a:lnTo>
                  <a:cubicBezTo>
                    <a:pt x="59690" y="88900"/>
                    <a:pt x="88900" y="59690"/>
                    <a:pt x="124460" y="59690"/>
                  </a:cubicBezTo>
                  <a:lnTo>
                    <a:pt x="6379509" y="59690"/>
                  </a:lnTo>
                  <a:moveTo>
                    <a:pt x="6379509" y="0"/>
                  </a:moveTo>
                  <a:lnTo>
                    <a:pt x="124460" y="0"/>
                  </a:lnTo>
                  <a:cubicBezTo>
                    <a:pt x="55880" y="0"/>
                    <a:pt x="0" y="55880"/>
                    <a:pt x="0" y="124460"/>
                  </a:cubicBezTo>
                  <a:lnTo>
                    <a:pt x="0" y="2210798"/>
                  </a:lnTo>
                  <a:cubicBezTo>
                    <a:pt x="0" y="2279378"/>
                    <a:pt x="55880" y="2335258"/>
                    <a:pt x="124460" y="2335258"/>
                  </a:cubicBezTo>
                  <a:lnTo>
                    <a:pt x="6379509" y="2335258"/>
                  </a:lnTo>
                  <a:cubicBezTo>
                    <a:pt x="6448089" y="2335258"/>
                    <a:pt x="6503969" y="2279378"/>
                    <a:pt x="6503969" y="2210798"/>
                  </a:cubicBezTo>
                  <a:lnTo>
                    <a:pt x="6503969" y="124460"/>
                  </a:lnTo>
                  <a:cubicBezTo>
                    <a:pt x="6503969" y="55880"/>
                    <a:pt x="6448089" y="0"/>
                    <a:pt x="6379509"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p:nvPr/>
          </p:nvSpPr>
          <p:spPr>
            <a:xfrm>
              <a:off x="63500" y="0"/>
              <a:ext cx="8990614" cy="956946"/>
            </a:xfrm>
            <a:custGeom>
              <a:rect b="b" l="l" r="r" t="t"/>
              <a:pathLst>
                <a:path extrusionOk="0" h="660400" w="6204530">
                  <a:moveTo>
                    <a:pt x="6080070" y="660400"/>
                  </a:moveTo>
                  <a:lnTo>
                    <a:pt x="124460" y="660400"/>
                  </a:lnTo>
                  <a:cubicBezTo>
                    <a:pt x="55880" y="660400"/>
                    <a:pt x="0" y="604520"/>
                    <a:pt x="0" y="535940"/>
                  </a:cubicBezTo>
                  <a:lnTo>
                    <a:pt x="0" y="124460"/>
                  </a:lnTo>
                  <a:cubicBezTo>
                    <a:pt x="0" y="55880"/>
                    <a:pt x="55880" y="0"/>
                    <a:pt x="124460" y="0"/>
                  </a:cubicBezTo>
                  <a:lnTo>
                    <a:pt x="6080070" y="0"/>
                  </a:lnTo>
                  <a:cubicBezTo>
                    <a:pt x="6148650" y="0"/>
                    <a:pt x="6204530" y="55880"/>
                    <a:pt x="6204530" y="124460"/>
                  </a:cubicBezTo>
                  <a:lnTo>
                    <a:pt x="6204530" y="535940"/>
                  </a:lnTo>
                  <a:cubicBezTo>
                    <a:pt x="6204530" y="604520"/>
                    <a:pt x="6148650" y="660400"/>
                    <a:pt x="6080070" y="66040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
            <p:cNvSpPr/>
            <p:nvPr/>
          </p:nvSpPr>
          <p:spPr>
            <a:xfrm>
              <a:off x="491647" y="85240"/>
              <a:ext cx="786467" cy="786467"/>
            </a:xfrm>
            <a:custGeom>
              <a:rect b="b" l="l" r="r" t="t"/>
              <a:pathLst>
                <a:path extrusionOk="0" h="786467" w="786467">
                  <a:moveTo>
                    <a:pt x="0" y="0"/>
                  </a:moveTo>
                  <a:lnTo>
                    <a:pt x="786467" y="0"/>
                  </a:lnTo>
                  <a:lnTo>
                    <a:pt x="786467" y="786466"/>
                  </a:lnTo>
                  <a:lnTo>
                    <a:pt x="0" y="786466"/>
                  </a:lnTo>
                  <a:lnTo>
                    <a:pt x="0" y="0"/>
                  </a:lnTo>
                  <a:close/>
                </a:path>
              </a:pathLst>
            </a:custGeom>
            <a:blipFill rotWithShape="1">
              <a:blip r:embed="rId5">
                <a:alphaModFix/>
              </a:blip>
              <a:stretch>
                <a:fillRect b="0" l="0" r="0" t="0"/>
              </a:stretch>
            </a:blipFill>
            <a:ln>
              <a:noFill/>
            </a:ln>
          </p:spPr>
        </p:sp>
        <p:sp>
          <p:nvSpPr>
            <p:cNvPr id="207" name="Google Shape;207;p8"/>
            <p:cNvSpPr txBox="1"/>
            <p:nvPr/>
          </p:nvSpPr>
          <p:spPr>
            <a:xfrm>
              <a:off x="1431001" y="248564"/>
              <a:ext cx="6937499" cy="459817"/>
            </a:xfrm>
            <a:prstGeom prst="rect">
              <a:avLst/>
            </a:prstGeom>
            <a:noFill/>
            <a:ln>
              <a:noFill/>
            </a:ln>
          </p:spPr>
          <p:txBody>
            <a:bodyPr anchorCtr="0" anchor="t" bIns="0" lIns="0" spcFirstLastPara="1" rIns="0" wrap="square" tIns="0">
              <a:spAutoFit/>
            </a:bodyPr>
            <a:lstStyle/>
            <a:p>
              <a:pPr indent="0" lvl="0" marL="0" marR="0" rtl="0" algn="ctr">
                <a:lnSpc>
                  <a:spcPct val="120043"/>
                </a:lnSpc>
                <a:spcBef>
                  <a:spcPts val="0"/>
                </a:spcBef>
                <a:spcAft>
                  <a:spcPts val="0"/>
                </a:spcAft>
                <a:buNone/>
              </a:pPr>
              <a:r>
                <a:rPr b="1" i="0" lang="en-US" sz="2320" u="none" cap="none" strike="noStrike">
                  <a:solidFill>
                    <a:srgbClr val="F5F5F4"/>
                  </a:solidFill>
                  <a:latin typeface="Public Sans"/>
                  <a:ea typeface="Public Sans"/>
                  <a:cs typeface="Public Sans"/>
                  <a:sym typeface="Public Sans"/>
                </a:rPr>
                <a:t>Pemetaan Pengaruh Variabel Utama</a:t>
              </a:r>
              <a:endParaRPr/>
            </a:p>
          </p:txBody>
        </p:sp>
        <p:sp>
          <p:nvSpPr>
            <p:cNvPr id="208" name="Google Shape;208;p8"/>
            <p:cNvSpPr txBox="1"/>
            <p:nvPr/>
          </p:nvSpPr>
          <p:spPr>
            <a:xfrm>
              <a:off x="698838" y="1569695"/>
              <a:ext cx="7719938" cy="255620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35" u="none" cap="none" strike="noStrike">
                  <a:solidFill>
                    <a:srgbClr val="333333"/>
                  </a:solidFill>
                  <a:latin typeface="Public Sans"/>
                  <a:ea typeface="Public Sans"/>
                  <a:cs typeface="Public Sans"/>
                  <a:sym typeface="Public Sans"/>
                </a:rPr>
                <a:t>Menyimpulkan variabel mana yang paling mendominasi. Misalnya, melihat apakah perasaan tidak aman (Insecurity) secara terbukti dan signifikan menurunkan persepsi warga terhadap kegunaan (Perceived Usefulness) teknologi tersebut.</a:t>
              </a:r>
              <a:endParaRPr/>
            </a:p>
          </p:txBody>
        </p:sp>
      </p:grpSp>
      <p:grpSp>
        <p:nvGrpSpPr>
          <p:cNvPr id="209" name="Google Shape;209;p8"/>
          <p:cNvGrpSpPr/>
          <p:nvPr/>
        </p:nvGrpSpPr>
        <p:grpSpPr>
          <a:xfrm>
            <a:off x="9906394" y="6206479"/>
            <a:ext cx="6790587" cy="3358504"/>
            <a:chOff x="0" y="0"/>
            <a:chExt cx="9054115" cy="4478005"/>
          </a:xfrm>
        </p:grpSpPr>
        <p:sp>
          <p:nvSpPr>
            <p:cNvPr id="210" name="Google Shape;210;p8"/>
            <p:cNvSpPr/>
            <p:nvPr/>
          </p:nvSpPr>
          <p:spPr>
            <a:xfrm>
              <a:off x="0" y="1227114"/>
              <a:ext cx="9054114" cy="3250891"/>
            </a:xfrm>
            <a:custGeom>
              <a:rect b="b" l="l" r="r" t="t"/>
              <a:pathLst>
                <a:path extrusionOk="0" h="2335258" w="6503969">
                  <a:moveTo>
                    <a:pt x="6379509" y="59690"/>
                  </a:moveTo>
                  <a:cubicBezTo>
                    <a:pt x="6415069" y="59690"/>
                    <a:pt x="6444279" y="88900"/>
                    <a:pt x="6444279" y="124460"/>
                  </a:cubicBezTo>
                  <a:lnTo>
                    <a:pt x="6444279" y="2210798"/>
                  </a:lnTo>
                  <a:cubicBezTo>
                    <a:pt x="6444279" y="2246358"/>
                    <a:pt x="6415069" y="2275568"/>
                    <a:pt x="6379509" y="2275568"/>
                  </a:cubicBezTo>
                  <a:lnTo>
                    <a:pt x="124460" y="2275568"/>
                  </a:lnTo>
                  <a:cubicBezTo>
                    <a:pt x="88900" y="2275568"/>
                    <a:pt x="59690" y="2246358"/>
                    <a:pt x="59690" y="2210798"/>
                  </a:cubicBezTo>
                  <a:lnTo>
                    <a:pt x="59690" y="124460"/>
                  </a:lnTo>
                  <a:cubicBezTo>
                    <a:pt x="59690" y="88900"/>
                    <a:pt x="88900" y="59690"/>
                    <a:pt x="124460" y="59690"/>
                  </a:cubicBezTo>
                  <a:lnTo>
                    <a:pt x="6379509" y="59690"/>
                  </a:lnTo>
                  <a:moveTo>
                    <a:pt x="6379509" y="0"/>
                  </a:moveTo>
                  <a:lnTo>
                    <a:pt x="124460" y="0"/>
                  </a:lnTo>
                  <a:cubicBezTo>
                    <a:pt x="55880" y="0"/>
                    <a:pt x="0" y="55880"/>
                    <a:pt x="0" y="124460"/>
                  </a:cubicBezTo>
                  <a:lnTo>
                    <a:pt x="0" y="2210798"/>
                  </a:lnTo>
                  <a:cubicBezTo>
                    <a:pt x="0" y="2279378"/>
                    <a:pt x="55880" y="2335258"/>
                    <a:pt x="124460" y="2335258"/>
                  </a:cubicBezTo>
                  <a:lnTo>
                    <a:pt x="6379509" y="2335258"/>
                  </a:lnTo>
                  <a:cubicBezTo>
                    <a:pt x="6448089" y="2335258"/>
                    <a:pt x="6503969" y="2279378"/>
                    <a:pt x="6503969" y="2210798"/>
                  </a:cubicBezTo>
                  <a:lnTo>
                    <a:pt x="6503969" y="124460"/>
                  </a:lnTo>
                  <a:cubicBezTo>
                    <a:pt x="6503969" y="55880"/>
                    <a:pt x="6448089" y="0"/>
                    <a:pt x="6379509"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p:nvPr/>
          </p:nvSpPr>
          <p:spPr>
            <a:xfrm>
              <a:off x="87974" y="0"/>
              <a:ext cx="8966141" cy="956946"/>
            </a:xfrm>
            <a:custGeom>
              <a:rect b="b" l="l" r="r" t="t"/>
              <a:pathLst>
                <a:path extrusionOk="0" h="660400" w="6187641">
                  <a:moveTo>
                    <a:pt x="6063180" y="660400"/>
                  </a:moveTo>
                  <a:lnTo>
                    <a:pt x="124460" y="660400"/>
                  </a:lnTo>
                  <a:cubicBezTo>
                    <a:pt x="55880" y="660400"/>
                    <a:pt x="0" y="604520"/>
                    <a:pt x="0" y="535940"/>
                  </a:cubicBezTo>
                  <a:lnTo>
                    <a:pt x="0" y="124460"/>
                  </a:lnTo>
                  <a:cubicBezTo>
                    <a:pt x="0" y="55880"/>
                    <a:pt x="55880" y="0"/>
                    <a:pt x="124460" y="0"/>
                  </a:cubicBezTo>
                  <a:lnTo>
                    <a:pt x="6063181" y="0"/>
                  </a:lnTo>
                  <a:cubicBezTo>
                    <a:pt x="6131761" y="0"/>
                    <a:pt x="6187641" y="55880"/>
                    <a:pt x="6187641" y="124460"/>
                  </a:cubicBezTo>
                  <a:lnTo>
                    <a:pt x="6187641" y="535940"/>
                  </a:lnTo>
                  <a:cubicBezTo>
                    <a:pt x="6187641" y="604520"/>
                    <a:pt x="6131761" y="660400"/>
                    <a:pt x="6063181" y="66040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391521" y="38100"/>
              <a:ext cx="855346" cy="855346"/>
            </a:xfrm>
            <a:custGeom>
              <a:rect b="b" l="l" r="r" t="t"/>
              <a:pathLst>
                <a:path extrusionOk="0" h="855346" w="855346">
                  <a:moveTo>
                    <a:pt x="0" y="0"/>
                  </a:moveTo>
                  <a:lnTo>
                    <a:pt x="855347" y="0"/>
                  </a:lnTo>
                  <a:lnTo>
                    <a:pt x="855347" y="855346"/>
                  </a:lnTo>
                  <a:lnTo>
                    <a:pt x="0" y="855346"/>
                  </a:lnTo>
                  <a:lnTo>
                    <a:pt x="0" y="0"/>
                  </a:lnTo>
                  <a:close/>
                </a:path>
              </a:pathLst>
            </a:custGeom>
            <a:blipFill rotWithShape="1">
              <a:blip r:embed="rId6">
                <a:alphaModFix/>
              </a:blip>
              <a:stretch>
                <a:fillRect b="0" l="0" r="0" t="0"/>
              </a:stretch>
            </a:blipFill>
            <a:ln>
              <a:noFill/>
            </a:ln>
          </p:spPr>
        </p:sp>
        <p:sp>
          <p:nvSpPr>
            <p:cNvPr id="213" name="Google Shape;213;p8"/>
            <p:cNvSpPr txBox="1"/>
            <p:nvPr/>
          </p:nvSpPr>
          <p:spPr>
            <a:xfrm>
              <a:off x="1373868" y="248564"/>
              <a:ext cx="7329329" cy="459817"/>
            </a:xfrm>
            <a:prstGeom prst="rect">
              <a:avLst/>
            </a:prstGeom>
            <a:noFill/>
            <a:ln>
              <a:noFill/>
            </a:ln>
          </p:spPr>
          <p:txBody>
            <a:bodyPr anchorCtr="0" anchor="t" bIns="0" lIns="0" spcFirstLastPara="1" rIns="0" wrap="square" tIns="0">
              <a:spAutoFit/>
            </a:bodyPr>
            <a:lstStyle/>
            <a:p>
              <a:pPr indent="0" lvl="0" marL="0" marR="0" rtl="0" algn="ctr">
                <a:lnSpc>
                  <a:spcPct val="120043"/>
                </a:lnSpc>
                <a:spcBef>
                  <a:spcPts val="0"/>
                </a:spcBef>
                <a:spcAft>
                  <a:spcPts val="0"/>
                </a:spcAft>
                <a:buNone/>
              </a:pPr>
              <a:r>
                <a:rPr b="1" i="0" lang="en-US" sz="2320" u="none" cap="none" strike="noStrike">
                  <a:solidFill>
                    <a:srgbClr val="F5F5F4"/>
                  </a:solidFill>
                  <a:latin typeface="Public Sans"/>
                  <a:ea typeface="Public Sans"/>
                  <a:cs typeface="Public Sans"/>
                  <a:sym typeface="Public Sans"/>
                </a:rPr>
                <a:t>Membaca Rantai Psikologis Pengguna</a:t>
              </a:r>
              <a:endParaRPr/>
            </a:p>
          </p:txBody>
        </p:sp>
        <p:sp>
          <p:nvSpPr>
            <p:cNvPr id="214" name="Google Shape;214;p8"/>
            <p:cNvSpPr txBox="1"/>
            <p:nvPr/>
          </p:nvSpPr>
          <p:spPr>
            <a:xfrm>
              <a:off x="553035" y="1569695"/>
              <a:ext cx="7450130" cy="255620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35" u="none" cap="none" strike="noStrike">
                  <a:solidFill>
                    <a:srgbClr val="333333"/>
                  </a:solidFill>
                  <a:latin typeface="Public Sans"/>
                  <a:ea typeface="Public Sans"/>
                  <a:cs typeface="Public Sans"/>
                  <a:sym typeface="Public Sans"/>
                </a:rPr>
                <a:t>Menyimpulkan arah perilaku pengguna, misalnya membuktikan bahwa kesiapan mental memengaruhi Niat Penggunaan (Use Intention) secara tidak langsung, yakni melalui pembentukan persepsi bahwa alat tersebut mudah digunakan terlebih dahulu.</a:t>
              </a:r>
              <a:endParaRPr/>
            </a:p>
          </p:txBody>
        </p:sp>
      </p:grpSp>
      <p:sp>
        <p:nvSpPr>
          <p:cNvPr id="215" name="Google Shape;215;p8"/>
          <p:cNvSpPr txBox="1"/>
          <p:nvPr/>
        </p:nvSpPr>
        <p:spPr>
          <a:xfrm>
            <a:off x="14434423" y="685800"/>
            <a:ext cx="2824877" cy="4318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000000"/>
                </a:solidFill>
                <a:latin typeface="Public Sans"/>
                <a:ea typeface="Public Sans"/>
                <a:cs typeface="Public Sans"/>
                <a:sym typeface="Public Sans"/>
              </a:rPr>
              <a:t>POLMAN Bandung</a:t>
            </a:r>
            <a:endParaRPr/>
          </a:p>
        </p:txBody>
      </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4"/>
        </a:solidFill>
      </p:bgPr>
    </p:bg>
    <p:spTree>
      <p:nvGrpSpPr>
        <p:cNvPr id="219" name="Shape 219"/>
        <p:cNvGrpSpPr/>
        <p:nvPr/>
      </p:nvGrpSpPr>
      <p:grpSpPr>
        <a:xfrm>
          <a:off x="0" y="0"/>
          <a:ext cx="0" cy="0"/>
          <a:chOff x="0" y="0"/>
          <a:chExt cx="0" cy="0"/>
        </a:xfrm>
      </p:grpSpPr>
      <p:cxnSp>
        <p:nvCxnSpPr>
          <p:cNvPr id="220" name="Google Shape;220;p9"/>
          <p:cNvCxnSpPr/>
          <p:nvPr/>
        </p:nvCxnSpPr>
        <p:spPr>
          <a:xfrm>
            <a:off x="1028700" y="1347788"/>
            <a:ext cx="16230600" cy="0"/>
          </a:xfrm>
          <a:prstGeom prst="straightConnector1">
            <a:avLst/>
          </a:prstGeom>
          <a:noFill/>
          <a:ln cap="flat" cmpd="sng" w="28575">
            <a:solidFill>
              <a:srgbClr val="333333"/>
            </a:solidFill>
            <a:prstDash val="solid"/>
            <a:round/>
            <a:headEnd len="sm" w="sm" type="none"/>
            <a:tailEnd len="sm" w="sm" type="none"/>
          </a:ln>
        </p:spPr>
      </p:cxnSp>
      <p:sp>
        <p:nvSpPr>
          <p:cNvPr id="221" name="Google Shape;221;p9"/>
          <p:cNvSpPr txBox="1"/>
          <p:nvPr/>
        </p:nvSpPr>
        <p:spPr>
          <a:xfrm>
            <a:off x="1661244" y="1633691"/>
            <a:ext cx="14965512" cy="8191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5400" u="none" cap="none" strike="noStrike">
                <a:solidFill>
                  <a:srgbClr val="333333"/>
                </a:solidFill>
                <a:latin typeface="Play"/>
                <a:ea typeface="Play"/>
                <a:cs typeface="Play"/>
                <a:sym typeface="Play"/>
              </a:rPr>
              <a:t>Adaptasi TRAM untuk Demografi Pedesaan</a:t>
            </a:r>
            <a:endParaRPr/>
          </a:p>
        </p:txBody>
      </p:sp>
      <p:sp>
        <p:nvSpPr>
          <p:cNvPr id="222" name="Google Shape;222;p9"/>
          <p:cNvSpPr txBox="1"/>
          <p:nvPr/>
        </p:nvSpPr>
        <p:spPr>
          <a:xfrm>
            <a:off x="1028700" y="685800"/>
            <a:ext cx="6257325" cy="431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Program Praktik Industri ‘23</a:t>
            </a:r>
            <a:endParaRPr/>
          </a:p>
        </p:txBody>
      </p:sp>
      <p:sp>
        <p:nvSpPr>
          <p:cNvPr id="223" name="Google Shape;223;p9"/>
          <p:cNvSpPr txBox="1"/>
          <p:nvPr/>
        </p:nvSpPr>
        <p:spPr>
          <a:xfrm>
            <a:off x="1028700" y="9610725"/>
            <a:ext cx="14965512" cy="35242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1" lang="en-US" sz="2400" u="none" cap="none" strike="noStrike">
                <a:solidFill>
                  <a:srgbClr val="333333"/>
                </a:solidFill>
                <a:latin typeface="Play"/>
                <a:ea typeface="Play"/>
                <a:cs typeface="Play"/>
                <a:sym typeface="Play"/>
              </a:rPr>
              <a:t>Konteks: Ibu-ibu 20–45 Tahun, Pendidikan Dasar, Budaya Lisan, Berbahasa Sunda</a:t>
            </a:r>
            <a:endParaRPr/>
          </a:p>
        </p:txBody>
      </p:sp>
      <p:grpSp>
        <p:nvGrpSpPr>
          <p:cNvPr id="224" name="Google Shape;224;p9"/>
          <p:cNvGrpSpPr/>
          <p:nvPr/>
        </p:nvGrpSpPr>
        <p:grpSpPr>
          <a:xfrm>
            <a:off x="1223805" y="3199922"/>
            <a:ext cx="4586693" cy="6058380"/>
            <a:chOff x="0" y="0"/>
            <a:chExt cx="6115590" cy="8077839"/>
          </a:xfrm>
        </p:grpSpPr>
        <p:sp>
          <p:nvSpPr>
            <p:cNvPr id="225" name="Google Shape;225;p9"/>
            <p:cNvSpPr/>
            <p:nvPr/>
          </p:nvSpPr>
          <p:spPr>
            <a:xfrm>
              <a:off x="0" y="2056134"/>
              <a:ext cx="6115590" cy="6021705"/>
            </a:xfrm>
            <a:custGeom>
              <a:rect b="b" l="l" r="r" t="t"/>
              <a:pathLst>
                <a:path extrusionOk="0" h="2865123" w="2909794">
                  <a:moveTo>
                    <a:pt x="2785334" y="59690"/>
                  </a:moveTo>
                  <a:cubicBezTo>
                    <a:pt x="2820894" y="59690"/>
                    <a:pt x="2850104" y="88900"/>
                    <a:pt x="2850104" y="124460"/>
                  </a:cubicBezTo>
                  <a:lnTo>
                    <a:pt x="2850104" y="2740663"/>
                  </a:lnTo>
                  <a:cubicBezTo>
                    <a:pt x="2850104" y="2776223"/>
                    <a:pt x="2820894" y="2805432"/>
                    <a:pt x="2785334" y="2805432"/>
                  </a:cubicBezTo>
                  <a:lnTo>
                    <a:pt x="124460" y="2805432"/>
                  </a:lnTo>
                  <a:cubicBezTo>
                    <a:pt x="88900" y="2805432"/>
                    <a:pt x="59690" y="2776223"/>
                    <a:pt x="59690" y="2740663"/>
                  </a:cubicBezTo>
                  <a:lnTo>
                    <a:pt x="59690" y="124460"/>
                  </a:lnTo>
                  <a:cubicBezTo>
                    <a:pt x="59690" y="88900"/>
                    <a:pt x="88900" y="59690"/>
                    <a:pt x="124460" y="59690"/>
                  </a:cubicBezTo>
                  <a:lnTo>
                    <a:pt x="2785334" y="59690"/>
                  </a:lnTo>
                  <a:moveTo>
                    <a:pt x="2785334" y="0"/>
                  </a:moveTo>
                  <a:lnTo>
                    <a:pt x="124460" y="0"/>
                  </a:lnTo>
                  <a:cubicBezTo>
                    <a:pt x="55880" y="0"/>
                    <a:pt x="0" y="55880"/>
                    <a:pt x="0" y="124460"/>
                  </a:cubicBezTo>
                  <a:lnTo>
                    <a:pt x="0" y="2740663"/>
                  </a:lnTo>
                  <a:cubicBezTo>
                    <a:pt x="0" y="2809242"/>
                    <a:pt x="55880" y="2865123"/>
                    <a:pt x="124460" y="2865123"/>
                  </a:cubicBezTo>
                  <a:lnTo>
                    <a:pt x="2785334" y="2865123"/>
                  </a:lnTo>
                  <a:cubicBezTo>
                    <a:pt x="2853914" y="2865123"/>
                    <a:pt x="2909794" y="2809242"/>
                    <a:pt x="2909794" y="2740663"/>
                  </a:cubicBezTo>
                  <a:lnTo>
                    <a:pt x="2909794" y="124460"/>
                  </a:lnTo>
                  <a:cubicBezTo>
                    <a:pt x="2909794" y="55880"/>
                    <a:pt x="2853914" y="0"/>
                    <a:pt x="2785334"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
            <p:cNvSpPr/>
            <p:nvPr/>
          </p:nvSpPr>
          <p:spPr>
            <a:xfrm>
              <a:off x="1687013" y="0"/>
              <a:ext cx="2952340" cy="2952340"/>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
            <p:cNvSpPr/>
            <p:nvPr/>
          </p:nvSpPr>
          <p:spPr>
            <a:xfrm>
              <a:off x="1997434" y="215527"/>
              <a:ext cx="2356897" cy="2356897"/>
            </a:xfrm>
            <a:custGeom>
              <a:rect b="b" l="l" r="r" t="t"/>
              <a:pathLst>
                <a:path extrusionOk="0" h="2356897" w="2356897">
                  <a:moveTo>
                    <a:pt x="0" y="0"/>
                  </a:moveTo>
                  <a:lnTo>
                    <a:pt x="2356898" y="0"/>
                  </a:lnTo>
                  <a:lnTo>
                    <a:pt x="2356898" y="2356897"/>
                  </a:lnTo>
                  <a:lnTo>
                    <a:pt x="0" y="2356897"/>
                  </a:lnTo>
                  <a:lnTo>
                    <a:pt x="0" y="0"/>
                  </a:lnTo>
                  <a:close/>
                </a:path>
              </a:pathLst>
            </a:custGeom>
            <a:blipFill rotWithShape="1">
              <a:blip r:embed="rId3">
                <a:alphaModFix/>
              </a:blip>
              <a:stretch>
                <a:fillRect b="0" l="0" r="0" t="0"/>
              </a:stretch>
            </a:blipFill>
            <a:ln>
              <a:noFill/>
            </a:ln>
          </p:spPr>
        </p:sp>
        <p:sp>
          <p:nvSpPr>
            <p:cNvPr id="228" name="Google Shape;228;p9"/>
            <p:cNvSpPr txBox="1"/>
            <p:nvPr/>
          </p:nvSpPr>
          <p:spPr>
            <a:xfrm>
              <a:off x="580496" y="3938922"/>
              <a:ext cx="5165374" cy="32099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300" u="none" cap="none" strike="noStrike">
                  <a:solidFill>
                    <a:srgbClr val="333333"/>
                  </a:solidFill>
                  <a:latin typeface="Public Sans"/>
                  <a:ea typeface="Public Sans"/>
                  <a:cs typeface="Public Sans"/>
                  <a:sym typeface="Public Sans"/>
                </a:rPr>
                <a:t>Kuesioner tertulis berupa kertas formulir tidak akan efektif dan menghasilkan data yang bias. Evaluasi harus dilakukan melalui metode wawancara lisan seperti mengobrol santai.</a:t>
              </a:r>
              <a:endParaRPr/>
            </a:p>
          </p:txBody>
        </p:sp>
        <p:sp>
          <p:nvSpPr>
            <p:cNvPr id="229" name="Google Shape;229;p9"/>
            <p:cNvSpPr txBox="1"/>
            <p:nvPr/>
          </p:nvSpPr>
          <p:spPr>
            <a:xfrm>
              <a:off x="137374" y="3195028"/>
              <a:ext cx="5932058" cy="568325"/>
            </a:xfrm>
            <a:prstGeom prst="rect">
              <a:avLst/>
            </a:prstGeom>
            <a:noFill/>
            <a:ln>
              <a:noFill/>
            </a:ln>
          </p:spPr>
          <p:txBody>
            <a:bodyPr anchorCtr="0" anchor="t" bIns="0" lIns="0" spcFirstLastPara="1" rIns="0" wrap="square" tIns="0">
              <a:spAutoFit/>
            </a:bodyPr>
            <a:lstStyle/>
            <a:p>
              <a:pPr indent="0" lvl="0" marL="0" marR="0" rtl="0" algn="ctr">
                <a:lnSpc>
                  <a:spcPct val="120007"/>
                </a:lnSpc>
                <a:spcBef>
                  <a:spcPts val="0"/>
                </a:spcBef>
                <a:spcAft>
                  <a:spcPts val="0"/>
                </a:spcAft>
                <a:buNone/>
              </a:pPr>
              <a:r>
                <a:rPr b="1" i="0" lang="en-US" sz="2799" u="none" cap="none" strike="noStrike">
                  <a:solidFill>
                    <a:srgbClr val="000000"/>
                  </a:solidFill>
                  <a:latin typeface="Public Sans"/>
                  <a:ea typeface="Public Sans"/>
                  <a:cs typeface="Public Sans"/>
                  <a:sym typeface="Public Sans"/>
                </a:rPr>
                <a:t>Wawancara Partisipatif</a:t>
              </a:r>
              <a:endParaRPr/>
            </a:p>
          </p:txBody>
        </p:sp>
      </p:grpSp>
      <p:grpSp>
        <p:nvGrpSpPr>
          <p:cNvPr id="230" name="Google Shape;230;p9"/>
          <p:cNvGrpSpPr/>
          <p:nvPr/>
        </p:nvGrpSpPr>
        <p:grpSpPr>
          <a:xfrm>
            <a:off x="7048748" y="3199922"/>
            <a:ext cx="4586693" cy="6058380"/>
            <a:chOff x="0" y="0"/>
            <a:chExt cx="6115590" cy="8077839"/>
          </a:xfrm>
        </p:grpSpPr>
        <p:sp>
          <p:nvSpPr>
            <p:cNvPr id="231" name="Google Shape;231;p9"/>
            <p:cNvSpPr/>
            <p:nvPr/>
          </p:nvSpPr>
          <p:spPr>
            <a:xfrm>
              <a:off x="0" y="2056134"/>
              <a:ext cx="6115590" cy="6021705"/>
            </a:xfrm>
            <a:custGeom>
              <a:rect b="b" l="l" r="r" t="t"/>
              <a:pathLst>
                <a:path extrusionOk="0" h="2865123" w="2909794">
                  <a:moveTo>
                    <a:pt x="2785334" y="59690"/>
                  </a:moveTo>
                  <a:cubicBezTo>
                    <a:pt x="2820894" y="59690"/>
                    <a:pt x="2850104" y="88900"/>
                    <a:pt x="2850104" y="124460"/>
                  </a:cubicBezTo>
                  <a:lnTo>
                    <a:pt x="2850104" y="2740663"/>
                  </a:lnTo>
                  <a:cubicBezTo>
                    <a:pt x="2850104" y="2776223"/>
                    <a:pt x="2820894" y="2805432"/>
                    <a:pt x="2785334" y="2805432"/>
                  </a:cubicBezTo>
                  <a:lnTo>
                    <a:pt x="124460" y="2805432"/>
                  </a:lnTo>
                  <a:cubicBezTo>
                    <a:pt x="88900" y="2805432"/>
                    <a:pt x="59690" y="2776223"/>
                    <a:pt x="59690" y="2740663"/>
                  </a:cubicBezTo>
                  <a:lnTo>
                    <a:pt x="59690" y="124460"/>
                  </a:lnTo>
                  <a:cubicBezTo>
                    <a:pt x="59690" y="88900"/>
                    <a:pt x="88900" y="59690"/>
                    <a:pt x="124460" y="59690"/>
                  </a:cubicBezTo>
                  <a:lnTo>
                    <a:pt x="2785334" y="59690"/>
                  </a:lnTo>
                  <a:moveTo>
                    <a:pt x="2785334" y="0"/>
                  </a:moveTo>
                  <a:lnTo>
                    <a:pt x="124460" y="0"/>
                  </a:lnTo>
                  <a:cubicBezTo>
                    <a:pt x="55880" y="0"/>
                    <a:pt x="0" y="55880"/>
                    <a:pt x="0" y="124460"/>
                  </a:cubicBezTo>
                  <a:lnTo>
                    <a:pt x="0" y="2740663"/>
                  </a:lnTo>
                  <a:cubicBezTo>
                    <a:pt x="0" y="2809242"/>
                    <a:pt x="55880" y="2865123"/>
                    <a:pt x="124460" y="2865123"/>
                  </a:cubicBezTo>
                  <a:lnTo>
                    <a:pt x="2785334" y="2865123"/>
                  </a:lnTo>
                  <a:cubicBezTo>
                    <a:pt x="2853914" y="2865123"/>
                    <a:pt x="2909794" y="2809242"/>
                    <a:pt x="2909794" y="2740663"/>
                  </a:cubicBezTo>
                  <a:lnTo>
                    <a:pt x="2909794" y="124460"/>
                  </a:lnTo>
                  <a:cubicBezTo>
                    <a:pt x="2909794" y="55880"/>
                    <a:pt x="2853914" y="0"/>
                    <a:pt x="2785334"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9"/>
            <p:cNvSpPr/>
            <p:nvPr/>
          </p:nvSpPr>
          <p:spPr>
            <a:xfrm>
              <a:off x="1581625" y="0"/>
              <a:ext cx="2952340" cy="2952340"/>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9"/>
            <p:cNvSpPr/>
            <p:nvPr/>
          </p:nvSpPr>
          <p:spPr>
            <a:xfrm>
              <a:off x="2240498" y="610939"/>
              <a:ext cx="1730462" cy="1730462"/>
            </a:xfrm>
            <a:custGeom>
              <a:rect b="b" l="l" r="r" t="t"/>
              <a:pathLst>
                <a:path extrusionOk="0" h="1730462" w="1730462">
                  <a:moveTo>
                    <a:pt x="0" y="0"/>
                  </a:moveTo>
                  <a:lnTo>
                    <a:pt x="1730462" y="0"/>
                  </a:lnTo>
                  <a:lnTo>
                    <a:pt x="1730462" y="1730462"/>
                  </a:lnTo>
                  <a:lnTo>
                    <a:pt x="0" y="1730462"/>
                  </a:lnTo>
                  <a:lnTo>
                    <a:pt x="0" y="0"/>
                  </a:lnTo>
                  <a:close/>
                </a:path>
              </a:pathLst>
            </a:custGeom>
            <a:blipFill rotWithShape="1">
              <a:blip r:embed="rId4">
                <a:alphaModFix/>
              </a:blip>
              <a:stretch>
                <a:fillRect b="0" l="0" r="0" t="0"/>
              </a:stretch>
            </a:blipFill>
            <a:ln>
              <a:noFill/>
            </a:ln>
          </p:spPr>
        </p:sp>
        <p:sp>
          <p:nvSpPr>
            <p:cNvPr id="234" name="Google Shape;234;p9"/>
            <p:cNvSpPr txBox="1"/>
            <p:nvPr/>
          </p:nvSpPr>
          <p:spPr>
            <a:xfrm>
              <a:off x="469900" y="3938922"/>
              <a:ext cx="5165374" cy="27527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300" u="none" cap="none" strike="noStrike">
                  <a:solidFill>
                    <a:srgbClr val="333333"/>
                  </a:solidFill>
                  <a:latin typeface="Public Sans"/>
                  <a:ea typeface="Public Sans"/>
                  <a:cs typeface="Public Sans"/>
                  <a:sym typeface="Public Sans"/>
                </a:rPr>
                <a:t>Pengukuran wajib menggunakan bahasa ibu (Sunda) sehari-hari. Istilah teknis yang rumit harus diterjemahkan menjadi bahasa fungsional.</a:t>
              </a:r>
              <a:endParaRPr/>
            </a:p>
          </p:txBody>
        </p:sp>
        <p:sp>
          <p:nvSpPr>
            <p:cNvPr id="235" name="Google Shape;235;p9"/>
            <p:cNvSpPr txBox="1"/>
            <p:nvPr/>
          </p:nvSpPr>
          <p:spPr>
            <a:xfrm>
              <a:off x="139700" y="3195028"/>
              <a:ext cx="5932058" cy="568325"/>
            </a:xfrm>
            <a:prstGeom prst="rect">
              <a:avLst/>
            </a:prstGeom>
            <a:noFill/>
            <a:ln>
              <a:noFill/>
            </a:ln>
          </p:spPr>
          <p:txBody>
            <a:bodyPr anchorCtr="0" anchor="t" bIns="0" lIns="0" spcFirstLastPara="1" rIns="0" wrap="square" tIns="0">
              <a:spAutoFit/>
            </a:bodyPr>
            <a:lstStyle/>
            <a:p>
              <a:pPr indent="0" lvl="0" marL="0" marR="0" rtl="0" algn="ctr">
                <a:lnSpc>
                  <a:spcPct val="120007"/>
                </a:lnSpc>
                <a:spcBef>
                  <a:spcPts val="0"/>
                </a:spcBef>
                <a:spcAft>
                  <a:spcPts val="0"/>
                </a:spcAft>
                <a:buNone/>
              </a:pPr>
              <a:r>
                <a:rPr b="1" i="0" lang="en-US" sz="2799" u="none" cap="none" strike="noStrike">
                  <a:solidFill>
                    <a:srgbClr val="000000"/>
                  </a:solidFill>
                  <a:latin typeface="Public Sans"/>
                  <a:ea typeface="Public Sans"/>
                  <a:cs typeface="Public Sans"/>
                  <a:sym typeface="Public Sans"/>
                </a:rPr>
                <a:t>Lokalisasi Bahasa</a:t>
              </a:r>
              <a:endParaRPr/>
            </a:p>
          </p:txBody>
        </p:sp>
      </p:grpSp>
      <p:sp>
        <p:nvSpPr>
          <p:cNvPr id="236" name="Google Shape;236;p9"/>
          <p:cNvSpPr txBox="1"/>
          <p:nvPr/>
        </p:nvSpPr>
        <p:spPr>
          <a:xfrm>
            <a:off x="14434423" y="685800"/>
            <a:ext cx="2824877" cy="4318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000000"/>
                </a:solidFill>
                <a:latin typeface="Public Sans"/>
                <a:ea typeface="Public Sans"/>
                <a:cs typeface="Public Sans"/>
                <a:sym typeface="Public Sans"/>
              </a:rPr>
              <a:t>POLMAN Bandung</a:t>
            </a:r>
            <a:endParaRPr/>
          </a:p>
        </p:txBody>
      </p:sp>
      <p:grpSp>
        <p:nvGrpSpPr>
          <p:cNvPr id="237" name="Google Shape;237;p9"/>
          <p:cNvGrpSpPr/>
          <p:nvPr/>
        </p:nvGrpSpPr>
        <p:grpSpPr>
          <a:xfrm>
            <a:off x="12596407" y="3250260"/>
            <a:ext cx="4586693" cy="6008042"/>
            <a:chOff x="0" y="0"/>
            <a:chExt cx="6115590" cy="8010722"/>
          </a:xfrm>
        </p:grpSpPr>
        <p:sp>
          <p:nvSpPr>
            <p:cNvPr id="238" name="Google Shape;238;p9"/>
            <p:cNvSpPr/>
            <p:nvPr/>
          </p:nvSpPr>
          <p:spPr>
            <a:xfrm>
              <a:off x="0" y="1989017"/>
              <a:ext cx="6115590" cy="6021705"/>
            </a:xfrm>
            <a:custGeom>
              <a:rect b="b" l="l" r="r" t="t"/>
              <a:pathLst>
                <a:path extrusionOk="0" h="2865123" w="2909794">
                  <a:moveTo>
                    <a:pt x="2785334" y="59690"/>
                  </a:moveTo>
                  <a:cubicBezTo>
                    <a:pt x="2820894" y="59690"/>
                    <a:pt x="2850104" y="88900"/>
                    <a:pt x="2850104" y="124460"/>
                  </a:cubicBezTo>
                  <a:lnTo>
                    <a:pt x="2850104" y="2740663"/>
                  </a:lnTo>
                  <a:cubicBezTo>
                    <a:pt x="2850104" y="2776223"/>
                    <a:pt x="2820894" y="2805432"/>
                    <a:pt x="2785334" y="2805432"/>
                  </a:cubicBezTo>
                  <a:lnTo>
                    <a:pt x="124460" y="2805432"/>
                  </a:lnTo>
                  <a:cubicBezTo>
                    <a:pt x="88900" y="2805432"/>
                    <a:pt x="59690" y="2776223"/>
                    <a:pt x="59690" y="2740663"/>
                  </a:cubicBezTo>
                  <a:lnTo>
                    <a:pt x="59690" y="124460"/>
                  </a:lnTo>
                  <a:cubicBezTo>
                    <a:pt x="59690" y="88900"/>
                    <a:pt x="88900" y="59690"/>
                    <a:pt x="124460" y="59690"/>
                  </a:cubicBezTo>
                  <a:lnTo>
                    <a:pt x="2785334" y="59690"/>
                  </a:lnTo>
                  <a:moveTo>
                    <a:pt x="2785334" y="0"/>
                  </a:moveTo>
                  <a:lnTo>
                    <a:pt x="124460" y="0"/>
                  </a:lnTo>
                  <a:cubicBezTo>
                    <a:pt x="55880" y="0"/>
                    <a:pt x="0" y="55880"/>
                    <a:pt x="0" y="124460"/>
                  </a:cubicBezTo>
                  <a:lnTo>
                    <a:pt x="0" y="2740663"/>
                  </a:lnTo>
                  <a:cubicBezTo>
                    <a:pt x="0" y="2809242"/>
                    <a:pt x="55880" y="2865123"/>
                    <a:pt x="124460" y="2865123"/>
                  </a:cubicBezTo>
                  <a:lnTo>
                    <a:pt x="2785334" y="2865123"/>
                  </a:lnTo>
                  <a:cubicBezTo>
                    <a:pt x="2853914" y="2865123"/>
                    <a:pt x="2909794" y="2809242"/>
                    <a:pt x="2909794" y="2740663"/>
                  </a:cubicBezTo>
                  <a:lnTo>
                    <a:pt x="2909794" y="124460"/>
                  </a:lnTo>
                  <a:cubicBezTo>
                    <a:pt x="2909794" y="55880"/>
                    <a:pt x="2853914" y="0"/>
                    <a:pt x="2785334"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
            <p:cNvSpPr/>
            <p:nvPr/>
          </p:nvSpPr>
          <p:spPr>
            <a:xfrm>
              <a:off x="1637272" y="0"/>
              <a:ext cx="2952340" cy="2952340"/>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
            <p:cNvSpPr/>
            <p:nvPr/>
          </p:nvSpPr>
          <p:spPr>
            <a:xfrm>
              <a:off x="1992180" y="205596"/>
              <a:ext cx="2242523" cy="2242523"/>
            </a:xfrm>
            <a:custGeom>
              <a:rect b="b" l="l" r="r" t="t"/>
              <a:pathLst>
                <a:path extrusionOk="0" h="2242523" w="2242523">
                  <a:moveTo>
                    <a:pt x="0" y="0"/>
                  </a:moveTo>
                  <a:lnTo>
                    <a:pt x="2242524" y="0"/>
                  </a:lnTo>
                  <a:lnTo>
                    <a:pt x="2242524" y="2242524"/>
                  </a:lnTo>
                  <a:lnTo>
                    <a:pt x="0" y="2242524"/>
                  </a:lnTo>
                  <a:lnTo>
                    <a:pt x="0" y="0"/>
                  </a:lnTo>
                  <a:close/>
                </a:path>
              </a:pathLst>
            </a:custGeom>
            <a:blipFill rotWithShape="1">
              <a:blip r:embed="rId5">
                <a:alphaModFix/>
              </a:blip>
              <a:stretch>
                <a:fillRect b="0" l="0" r="0" t="0"/>
              </a:stretch>
            </a:blipFill>
            <a:ln>
              <a:noFill/>
            </a:ln>
          </p:spPr>
        </p:sp>
        <p:sp>
          <p:nvSpPr>
            <p:cNvPr id="241" name="Google Shape;241;p9"/>
            <p:cNvSpPr txBox="1"/>
            <p:nvPr/>
          </p:nvSpPr>
          <p:spPr>
            <a:xfrm>
              <a:off x="179546" y="3127910"/>
              <a:ext cx="5932058" cy="568325"/>
            </a:xfrm>
            <a:prstGeom prst="rect">
              <a:avLst/>
            </a:prstGeom>
            <a:noFill/>
            <a:ln>
              <a:noFill/>
            </a:ln>
          </p:spPr>
          <p:txBody>
            <a:bodyPr anchorCtr="0" anchor="t" bIns="0" lIns="0" spcFirstLastPara="1" rIns="0" wrap="square" tIns="0">
              <a:spAutoFit/>
            </a:bodyPr>
            <a:lstStyle/>
            <a:p>
              <a:pPr indent="0" lvl="0" marL="0" marR="0" rtl="0" algn="ctr">
                <a:lnSpc>
                  <a:spcPct val="120007"/>
                </a:lnSpc>
                <a:spcBef>
                  <a:spcPts val="0"/>
                </a:spcBef>
                <a:spcAft>
                  <a:spcPts val="0"/>
                </a:spcAft>
                <a:buNone/>
              </a:pPr>
              <a:r>
                <a:rPr b="1" i="0" lang="en-US" sz="2799" u="none" cap="none" strike="noStrike">
                  <a:solidFill>
                    <a:srgbClr val="000000"/>
                  </a:solidFill>
                  <a:latin typeface="Public Sans"/>
                  <a:ea typeface="Public Sans"/>
                  <a:cs typeface="Public Sans"/>
                  <a:sym typeface="Public Sans"/>
                </a:rPr>
                <a:t>Memahami Perbedaan</a:t>
              </a:r>
              <a:endParaRPr/>
            </a:p>
          </p:txBody>
        </p:sp>
        <p:sp>
          <p:nvSpPr>
            <p:cNvPr id="242" name="Google Shape;242;p9"/>
            <p:cNvSpPr txBox="1"/>
            <p:nvPr/>
          </p:nvSpPr>
          <p:spPr>
            <a:xfrm>
              <a:off x="475108" y="3871805"/>
              <a:ext cx="5165374" cy="36671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300" u="none" cap="none" strike="noStrike">
                  <a:solidFill>
                    <a:srgbClr val="333333"/>
                  </a:solidFill>
                  <a:latin typeface="Public Sans"/>
                  <a:ea typeface="Public Sans"/>
                  <a:cs typeface="Public Sans"/>
                  <a:sym typeface="Public Sans"/>
                </a:rPr>
                <a:t>Model TRAM menuntut penerapan yang peka terhadap perbedaan mendasar individu , termasuk keterbatasan literasi digital dan minimnya pengalaman masa lalu dengan teknologi.</a:t>
              </a:r>
              <a:endParaRPr/>
            </a:p>
          </p:txBody>
        </p:sp>
      </p:gr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4"/>
        </a:solidFill>
      </p:bgPr>
    </p:bg>
    <p:spTree>
      <p:nvGrpSpPr>
        <p:cNvPr id="246" name="Shape 246"/>
        <p:cNvGrpSpPr/>
        <p:nvPr/>
      </p:nvGrpSpPr>
      <p:grpSpPr>
        <a:xfrm>
          <a:off x="0" y="0"/>
          <a:ext cx="0" cy="0"/>
          <a:chOff x="0" y="0"/>
          <a:chExt cx="0" cy="0"/>
        </a:xfrm>
      </p:grpSpPr>
      <p:cxnSp>
        <p:nvCxnSpPr>
          <p:cNvPr id="247" name="Google Shape;247;p10"/>
          <p:cNvCxnSpPr/>
          <p:nvPr/>
        </p:nvCxnSpPr>
        <p:spPr>
          <a:xfrm>
            <a:off x="1028700" y="1347788"/>
            <a:ext cx="16230600" cy="0"/>
          </a:xfrm>
          <a:prstGeom prst="straightConnector1">
            <a:avLst/>
          </a:prstGeom>
          <a:noFill/>
          <a:ln cap="flat" cmpd="sng" w="28575">
            <a:solidFill>
              <a:srgbClr val="333333"/>
            </a:solidFill>
            <a:prstDash val="solid"/>
            <a:round/>
            <a:headEnd len="sm" w="sm" type="none"/>
            <a:tailEnd len="sm" w="sm" type="none"/>
          </a:ln>
        </p:spPr>
      </p:cxnSp>
      <p:sp>
        <p:nvSpPr>
          <p:cNvPr id="248" name="Google Shape;248;p10"/>
          <p:cNvSpPr txBox="1"/>
          <p:nvPr/>
        </p:nvSpPr>
        <p:spPr>
          <a:xfrm>
            <a:off x="1028700" y="2068631"/>
            <a:ext cx="7162355" cy="1638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400" u="none" cap="none" strike="noStrike">
                <a:solidFill>
                  <a:srgbClr val="333333"/>
                </a:solidFill>
                <a:latin typeface="Play"/>
                <a:ea typeface="Play"/>
                <a:cs typeface="Play"/>
                <a:sym typeface="Play"/>
              </a:rPr>
              <a:t>Strategi Intervensi TRAM di Lapangan</a:t>
            </a:r>
            <a:endParaRPr/>
          </a:p>
        </p:txBody>
      </p:sp>
      <p:grpSp>
        <p:nvGrpSpPr>
          <p:cNvPr id="249" name="Google Shape;249;p10"/>
          <p:cNvGrpSpPr/>
          <p:nvPr/>
        </p:nvGrpSpPr>
        <p:grpSpPr>
          <a:xfrm>
            <a:off x="8391871" y="1719740"/>
            <a:ext cx="9896129" cy="3782321"/>
            <a:chOff x="0" y="0"/>
            <a:chExt cx="13194839" cy="5043094"/>
          </a:xfrm>
        </p:grpSpPr>
        <p:cxnSp>
          <p:nvCxnSpPr>
            <p:cNvPr id="250" name="Google Shape;250;p10"/>
            <p:cNvCxnSpPr/>
            <p:nvPr/>
          </p:nvCxnSpPr>
          <p:spPr>
            <a:xfrm>
              <a:off x="300124" y="874780"/>
              <a:ext cx="12894715" cy="0"/>
            </a:xfrm>
            <a:prstGeom prst="straightConnector1">
              <a:avLst/>
            </a:prstGeom>
            <a:noFill/>
            <a:ln cap="flat" cmpd="sng" w="38100">
              <a:solidFill>
                <a:srgbClr val="333333"/>
              </a:solidFill>
              <a:prstDash val="solid"/>
              <a:round/>
              <a:headEnd len="sm" w="sm" type="none"/>
              <a:tailEnd len="sm" w="sm" type="none"/>
            </a:ln>
          </p:spPr>
        </p:cxnSp>
        <p:sp>
          <p:nvSpPr>
            <p:cNvPr id="251" name="Google Shape;251;p10"/>
            <p:cNvSpPr/>
            <p:nvPr/>
          </p:nvSpPr>
          <p:spPr>
            <a:xfrm>
              <a:off x="0" y="0"/>
              <a:ext cx="1711461" cy="1711461"/>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0"/>
            <p:cNvSpPr/>
            <p:nvPr/>
          </p:nvSpPr>
          <p:spPr>
            <a:xfrm>
              <a:off x="300124" y="319174"/>
              <a:ext cx="1111213" cy="1111213"/>
            </a:xfrm>
            <a:custGeom>
              <a:rect b="b" l="l" r="r" t="t"/>
              <a:pathLst>
                <a:path extrusionOk="0" h="1111213" w="1111213">
                  <a:moveTo>
                    <a:pt x="0" y="0"/>
                  </a:moveTo>
                  <a:lnTo>
                    <a:pt x="1111213" y="0"/>
                  </a:lnTo>
                  <a:lnTo>
                    <a:pt x="1111213" y="1111213"/>
                  </a:lnTo>
                  <a:lnTo>
                    <a:pt x="0" y="1111213"/>
                  </a:lnTo>
                  <a:lnTo>
                    <a:pt x="0" y="0"/>
                  </a:lnTo>
                  <a:close/>
                </a:path>
              </a:pathLst>
            </a:custGeom>
            <a:blipFill rotWithShape="1">
              <a:blip r:embed="rId3">
                <a:alphaModFix/>
              </a:blip>
              <a:stretch>
                <a:fillRect b="0" l="0" r="0" t="0"/>
              </a:stretch>
            </a:blipFill>
            <a:ln>
              <a:noFill/>
            </a:ln>
          </p:spPr>
        </p:sp>
        <p:sp>
          <p:nvSpPr>
            <p:cNvPr id="253" name="Google Shape;253;p10"/>
            <p:cNvSpPr txBox="1"/>
            <p:nvPr/>
          </p:nvSpPr>
          <p:spPr>
            <a:xfrm>
              <a:off x="0" y="2733811"/>
              <a:ext cx="11823239" cy="2309283"/>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333333"/>
                  </a:solidFill>
                  <a:latin typeface="Public Sans"/>
                  <a:ea typeface="Public Sans"/>
                  <a:cs typeface="Public Sans"/>
                  <a:sym typeface="Public Sans"/>
                </a:rPr>
                <a:t>Evaluasi adopsi tidak cukup hanya dengan bertanya. Peneliti harus bertindak sebagai "guru" untuk memberikan edukasi dan membentuk ekspektasi warga secara langsung sebelum mengukur persepsi mereka.</a:t>
              </a:r>
              <a:endParaRPr/>
            </a:p>
          </p:txBody>
        </p:sp>
        <p:sp>
          <p:nvSpPr>
            <p:cNvPr id="254" name="Google Shape;254;p10"/>
            <p:cNvSpPr txBox="1"/>
            <p:nvPr/>
          </p:nvSpPr>
          <p:spPr>
            <a:xfrm>
              <a:off x="1869638" y="1159011"/>
              <a:ext cx="7379479" cy="12382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000" u="none" cap="none" strike="noStrike">
                  <a:solidFill>
                    <a:srgbClr val="333333"/>
                  </a:solidFill>
                  <a:latin typeface="Public Sans"/>
                  <a:ea typeface="Public Sans"/>
                  <a:cs typeface="Public Sans"/>
                  <a:sym typeface="Public Sans"/>
                </a:rPr>
                <a:t>Peneliti Memosisikan Diri Sebagai Pendidik</a:t>
              </a:r>
              <a:endParaRPr/>
            </a:p>
          </p:txBody>
        </p:sp>
      </p:grpSp>
      <p:sp>
        <p:nvSpPr>
          <p:cNvPr id="255" name="Google Shape;255;p10"/>
          <p:cNvSpPr txBox="1"/>
          <p:nvPr/>
        </p:nvSpPr>
        <p:spPr>
          <a:xfrm>
            <a:off x="1028700" y="685800"/>
            <a:ext cx="6257325" cy="431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Program Praktik Industri ‘23</a:t>
            </a:r>
            <a:endParaRPr/>
          </a:p>
        </p:txBody>
      </p:sp>
      <p:grpSp>
        <p:nvGrpSpPr>
          <p:cNvPr id="256" name="Google Shape;256;p10"/>
          <p:cNvGrpSpPr/>
          <p:nvPr/>
        </p:nvGrpSpPr>
        <p:grpSpPr>
          <a:xfrm>
            <a:off x="-4534123" y="5943864"/>
            <a:ext cx="13567792" cy="3650109"/>
            <a:chOff x="212" y="0"/>
            <a:chExt cx="18090389" cy="4866813"/>
          </a:xfrm>
        </p:grpSpPr>
        <p:cxnSp>
          <p:nvCxnSpPr>
            <p:cNvPr id="257" name="Google Shape;257;p10"/>
            <p:cNvCxnSpPr/>
            <p:nvPr/>
          </p:nvCxnSpPr>
          <p:spPr>
            <a:xfrm flipH="1" rot="10800000">
              <a:off x="212" y="855730"/>
              <a:ext cx="7972703" cy="88900"/>
            </a:xfrm>
            <a:prstGeom prst="straightConnector1">
              <a:avLst/>
            </a:prstGeom>
            <a:noFill/>
            <a:ln cap="flat" cmpd="sng" w="38100">
              <a:solidFill>
                <a:srgbClr val="333333"/>
              </a:solidFill>
              <a:prstDash val="solid"/>
              <a:round/>
              <a:headEnd len="sm" w="sm" type="none"/>
              <a:tailEnd len="sm" w="sm" type="none"/>
            </a:ln>
          </p:spPr>
        </p:cxnSp>
        <p:sp>
          <p:nvSpPr>
            <p:cNvPr id="258" name="Google Shape;258;p10"/>
            <p:cNvSpPr/>
            <p:nvPr/>
          </p:nvSpPr>
          <p:spPr>
            <a:xfrm>
              <a:off x="7972916" y="0"/>
              <a:ext cx="1711461" cy="1711461"/>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0"/>
            <p:cNvSpPr/>
            <p:nvPr/>
          </p:nvSpPr>
          <p:spPr>
            <a:xfrm>
              <a:off x="8261054" y="288138"/>
              <a:ext cx="1135184" cy="1135184"/>
            </a:xfrm>
            <a:custGeom>
              <a:rect b="b" l="l" r="r" t="t"/>
              <a:pathLst>
                <a:path extrusionOk="0" h="1135184" w="1135184">
                  <a:moveTo>
                    <a:pt x="0" y="0"/>
                  </a:moveTo>
                  <a:lnTo>
                    <a:pt x="1135184" y="0"/>
                  </a:lnTo>
                  <a:lnTo>
                    <a:pt x="1135184" y="1135185"/>
                  </a:lnTo>
                  <a:lnTo>
                    <a:pt x="0" y="1135185"/>
                  </a:lnTo>
                  <a:lnTo>
                    <a:pt x="0" y="0"/>
                  </a:lnTo>
                  <a:close/>
                </a:path>
              </a:pathLst>
            </a:custGeom>
            <a:blipFill rotWithShape="1">
              <a:blip r:embed="rId4">
                <a:alphaModFix/>
              </a:blip>
              <a:stretch>
                <a:fillRect b="0" l="0" r="0" t="0"/>
              </a:stretch>
            </a:blipFill>
            <a:ln>
              <a:noFill/>
            </a:ln>
          </p:spPr>
        </p:sp>
        <p:sp>
          <p:nvSpPr>
            <p:cNvPr id="260" name="Google Shape;260;p10"/>
            <p:cNvSpPr txBox="1"/>
            <p:nvPr/>
          </p:nvSpPr>
          <p:spPr>
            <a:xfrm>
              <a:off x="7972916" y="2557530"/>
              <a:ext cx="10117685" cy="2309283"/>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333333"/>
                  </a:solidFill>
                  <a:latin typeface="Public Sans"/>
                  <a:ea typeface="Public Sans"/>
                  <a:cs typeface="Public Sans"/>
                  <a:sym typeface="Public Sans"/>
                </a:rPr>
                <a:t>Untuk mengatasi kendala literasi tertulis, demonstrasikan langsung cara kerja purwarupa alat  secara fisik di lapangan agar warga bisa melihat dan menyentuhnya secara nyata</a:t>
              </a:r>
              <a:endParaRPr/>
            </a:p>
          </p:txBody>
        </p:sp>
        <p:sp>
          <p:nvSpPr>
            <p:cNvPr id="261" name="Google Shape;261;p10"/>
            <p:cNvSpPr txBox="1"/>
            <p:nvPr/>
          </p:nvSpPr>
          <p:spPr>
            <a:xfrm>
              <a:off x="9855390" y="1097030"/>
              <a:ext cx="7379479" cy="12382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000" u="none" cap="none" strike="noStrike">
                  <a:solidFill>
                    <a:srgbClr val="333333"/>
                  </a:solidFill>
                  <a:latin typeface="Public Sans"/>
                  <a:ea typeface="Public Sans"/>
                  <a:cs typeface="Public Sans"/>
                  <a:sym typeface="Public Sans"/>
                </a:rPr>
                <a:t>Demonstrasi Visual &amp; Praktik Langsung</a:t>
              </a:r>
              <a:endParaRPr/>
            </a:p>
          </p:txBody>
        </p:sp>
      </p:grpSp>
      <p:sp>
        <p:nvSpPr>
          <p:cNvPr id="262" name="Google Shape;262;p10"/>
          <p:cNvSpPr txBox="1"/>
          <p:nvPr/>
        </p:nvSpPr>
        <p:spPr>
          <a:xfrm>
            <a:off x="14434423" y="685800"/>
            <a:ext cx="2824877" cy="4318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000000"/>
                </a:solidFill>
                <a:latin typeface="Public Sans"/>
                <a:ea typeface="Public Sans"/>
                <a:cs typeface="Public Sans"/>
                <a:sym typeface="Public Sans"/>
              </a:rPr>
              <a:t>POLMAN Bandung</a:t>
            </a:r>
            <a:endParaRPr/>
          </a:p>
        </p:txBody>
      </p:sp>
      <p:grpSp>
        <p:nvGrpSpPr>
          <p:cNvPr id="263" name="Google Shape;263;p10"/>
          <p:cNvGrpSpPr/>
          <p:nvPr/>
        </p:nvGrpSpPr>
        <p:grpSpPr>
          <a:xfrm>
            <a:off x="2729001" y="5914032"/>
            <a:ext cx="14677156" cy="3908542"/>
            <a:chOff x="44" y="0"/>
            <a:chExt cx="19569541" cy="5211389"/>
          </a:xfrm>
        </p:grpSpPr>
        <p:sp>
          <p:nvSpPr>
            <p:cNvPr id="264" name="Google Shape;264;p10"/>
            <p:cNvSpPr/>
            <p:nvPr/>
          </p:nvSpPr>
          <p:spPr>
            <a:xfrm>
              <a:off x="8961874" y="0"/>
              <a:ext cx="1711461" cy="1711461"/>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0"/>
            <p:cNvSpPr/>
            <p:nvPr/>
          </p:nvSpPr>
          <p:spPr>
            <a:xfrm>
              <a:off x="9210560" y="147277"/>
              <a:ext cx="1315821" cy="1315821"/>
            </a:xfrm>
            <a:custGeom>
              <a:rect b="b" l="l" r="r" t="t"/>
              <a:pathLst>
                <a:path extrusionOk="0" h="1315821" w="1315821">
                  <a:moveTo>
                    <a:pt x="0" y="0"/>
                  </a:moveTo>
                  <a:lnTo>
                    <a:pt x="1315821" y="0"/>
                  </a:lnTo>
                  <a:lnTo>
                    <a:pt x="1315821" y="1315821"/>
                  </a:lnTo>
                  <a:lnTo>
                    <a:pt x="0" y="1315821"/>
                  </a:lnTo>
                  <a:lnTo>
                    <a:pt x="0" y="0"/>
                  </a:lnTo>
                  <a:close/>
                </a:path>
              </a:pathLst>
            </a:custGeom>
            <a:blipFill rotWithShape="1">
              <a:blip r:embed="rId5">
                <a:alphaModFix/>
              </a:blip>
              <a:stretch>
                <a:fillRect b="0" l="0" r="0" t="0"/>
              </a:stretch>
            </a:blipFill>
            <a:ln>
              <a:noFill/>
            </a:ln>
          </p:spPr>
        </p:sp>
        <p:sp>
          <p:nvSpPr>
            <p:cNvPr id="266" name="Google Shape;266;p10"/>
            <p:cNvSpPr txBox="1"/>
            <p:nvPr/>
          </p:nvSpPr>
          <p:spPr>
            <a:xfrm>
              <a:off x="9261998" y="2317906"/>
              <a:ext cx="10307587" cy="2893483"/>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333333"/>
                  </a:solidFill>
                  <a:latin typeface="Public Sans"/>
                  <a:ea typeface="Public Sans"/>
                  <a:cs typeface="Public Sans"/>
                  <a:sym typeface="Public Sans"/>
                </a:rPr>
                <a:t>Penolakan di pedesaan seringkali bukan karena alatnya dirasa tidak berguna, melainkan karena takut rusak atau khawatir gagal. Komunikasi yang tepat sangat krusial untuk menekan rasa takut ini agar niat adopsi dapat meningkat.</a:t>
              </a:r>
              <a:endParaRPr/>
            </a:p>
          </p:txBody>
        </p:sp>
        <p:sp>
          <p:nvSpPr>
            <p:cNvPr id="267" name="Google Shape;267;p10"/>
            <p:cNvSpPr txBox="1"/>
            <p:nvPr/>
          </p:nvSpPr>
          <p:spPr>
            <a:xfrm>
              <a:off x="10800335" y="1109886"/>
              <a:ext cx="7999420" cy="6286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000" u="none" cap="none" strike="noStrike">
                  <a:solidFill>
                    <a:srgbClr val="333333"/>
                  </a:solidFill>
                  <a:latin typeface="Public Sans"/>
                  <a:ea typeface="Public Sans"/>
                  <a:cs typeface="Public Sans"/>
                  <a:sym typeface="Public Sans"/>
                </a:rPr>
                <a:t>Fokus Meredam Ketidakamanan</a:t>
              </a:r>
              <a:endParaRPr/>
            </a:p>
          </p:txBody>
        </p:sp>
        <p:cxnSp>
          <p:nvCxnSpPr>
            <p:cNvPr id="268" name="Google Shape;268;p10"/>
            <p:cNvCxnSpPr/>
            <p:nvPr/>
          </p:nvCxnSpPr>
          <p:spPr>
            <a:xfrm flipH="1" rot="10800000">
              <a:off x="44" y="874780"/>
              <a:ext cx="8961699" cy="20726"/>
            </a:xfrm>
            <a:prstGeom prst="straightConnector1">
              <a:avLst/>
            </a:prstGeom>
            <a:noFill/>
            <a:ln cap="flat" cmpd="sng" w="38100">
              <a:solidFill>
                <a:srgbClr val="333333"/>
              </a:solidFill>
              <a:prstDash val="solid"/>
              <a:round/>
              <a:headEnd len="sm" w="sm" type="none"/>
              <a:tailEnd len="sm" w="sm" type="none"/>
            </a:ln>
          </p:spPr>
        </p:cxnSp>
      </p:gr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4"/>
        </a:solidFill>
      </p:bgPr>
    </p:bg>
    <p:spTree>
      <p:nvGrpSpPr>
        <p:cNvPr id="272" name="Shape 272"/>
        <p:cNvGrpSpPr/>
        <p:nvPr/>
      </p:nvGrpSpPr>
      <p:grpSpPr>
        <a:xfrm>
          <a:off x="0" y="0"/>
          <a:ext cx="0" cy="0"/>
          <a:chOff x="0" y="0"/>
          <a:chExt cx="0" cy="0"/>
        </a:xfrm>
      </p:grpSpPr>
      <p:cxnSp>
        <p:nvCxnSpPr>
          <p:cNvPr id="273" name="Google Shape;273;p11"/>
          <p:cNvCxnSpPr/>
          <p:nvPr/>
        </p:nvCxnSpPr>
        <p:spPr>
          <a:xfrm>
            <a:off x="1028700" y="5408612"/>
            <a:ext cx="1690612" cy="0"/>
          </a:xfrm>
          <a:prstGeom prst="straightConnector1">
            <a:avLst/>
          </a:prstGeom>
          <a:noFill/>
          <a:ln cap="flat" cmpd="sng" w="28575">
            <a:solidFill>
              <a:srgbClr val="333333"/>
            </a:solidFill>
            <a:prstDash val="solid"/>
            <a:round/>
            <a:headEnd len="sm" w="sm" type="none"/>
            <a:tailEnd len="sm" w="sm" type="none"/>
          </a:ln>
        </p:spPr>
      </p:cxnSp>
      <p:sp>
        <p:nvSpPr>
          <p:cNvPr id="274" name="Google Shape;274;p11"/>
          <p:cNvSpPr/>
          <p:nvPr/>
        </p:nvSpPr>
        <p:spPr>
          <a:xfrm>
            <a:off x="10595436" y="2996304"/>
            <a:ext cx="8766306" cy="5821543"/>
          </a:xfrm>
          <a:custGeom>
            <a:rect b="b" l="l" r="r" t="t"/>
            <a:pathLst>
              <a:path extrusionOk="0" h="812800" w="1223946">
                <a:moveTo>
                  <a:pt x="17663" y="0"/>
                </a:moveTo>
                <a:lnTo>
                  <a:pt x="1206283" y="0"/>
                </a:lnTo>
                <a:cubicBezTo>
                  <a:pt x="1216038" y="0"/>
                  <a:pt x="1223946" y="7908"/>
                  <a:pt x="1223946" y="17663"/>
                </a:cubicBezTo>
                <a:lnTo>
                  <a:pt x="1223946" y="795137"/>
                </a:lnTo>
                <a:cubicBezTo>
                  <a:pt x="1223946" y="799822"/>
                  <a:pt x="1222085" y="804314"/>
                  <a:pt x="1218773" y="807627"/>
                </a:cubicBezTo>
                <a:cubicBezTo>
                  <a:pt x="1215460" y="810939"/>
                  <a:pt x="1210968" y="812800"/>
                  <a:pt x="1206283" y="812800"/>
                </a:cubicBezTo>
                <a:lnTo>
                  <a:pt x="17663" y="812800"/>
                </a:lnTo>
                <a:cubicBezTo>
                  <a:pt x="12978" y="812800"/>
                  <a:pt x="8486" y="810939"/>
                  <a:pt x="5173" y="807627"/>
                </a:cubicBezTo>
                <a:cubicBezTo>
                  <a:pt x="1861" y="804314"/>
                  <a:pt x="0" y="799822"/>
                  <a:pt x="0" y="795137"/>
                </a:cubicBezTo>
                <a:lnTo>
                  <a:pt x="0" y="17663"/>
                </a:lnTo>
                <a:cubicBezTo>
                  <a:pt x="0" y="12978"/>
                  <a:pt x="1861" y="8486"/>
                  <a:pt x="5173" y="5173"/>
                </a:cubicBezTo>
                <a:cubicBezTo>
                  <a:pt x="8486" y="1861"/>
                  <a:pt x="12978" y="0"/>
                  <a:pt x="17663" y="0"/>
                </a:cubicBezTo>
                <a:close/>
              </a:path>
            </a:pathLst>
          </a:custGeom>
          <a:blipFill rotWithShape="1">
            <a:blip r:embed="rId3">
              <a:alphaModFix/>
            </a:blip>
            <a:stretch>
              <a:fillRect b="0" l="-404" r="-404" t="0"/>
            </a:stretch>
          </a:blipFill>
          <a:ln cap="sq" cmpd="sng" w="123825">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txBox="1"/>
          <p:nvPr/>
        </p:nvSpPr>
        <p:spPr>
          <a:xfrm>
            <a:off x="1028700" y="3333750"/>
            <a:ext cx="8115300" cy="15049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1" i="1" lang="en-US" sz="9999" u="none" cap="none" strike="noStrike">
                <a:solidFill>
                  <a:srgbClr val="333333"/>
                </a:solidFill>
                <a:latin typeface="Play"/>
                <a:ea typeface="Play"/>
                <a:cs typeface="Play"/>
                <a:sym typeface="Play"/>
              </a:rPr>
              <a:t>Thank you</a:t>
            </a:r>
            <a:endParaRPr/>
          </a:p>
        </p:txBody>
      </p:sp>
      <p:sp>
        <p:nvSpPr>
          <p:cNvPr id="276" name="Google Shape;276;p11"/>
          <p:cNvSpPr txBox="1"/>
          <p:nvPr/>
        </p:nvSpPr>
        <p:spPr>
          <a:xfrm>
            <a:off x="3058685" y="5057775"/>
            <a:ext cx="6085315" cy="6159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3500" u="none" cap="none" strike="noStrike">
                <a:solidFill>
                  <a:srgbClr val="333333"/>
                </a:solidFill>
                <a:latin typeface="Public Sans"/>
                <a:ea typeface="Public Sans"/>
                <a:cs typeface="Public Sans"/>
                <a:sym typeface="Public Sans"/>
              </a:rPr>
              <a:t>For your attention</a:t>
            </a:r>
            <a:endParaRPr/>
          </a:p>
        </p:txBody>
      </p:sp>
      <p:sp>
        <p:nvSpPr>
          <p:cNvPr id="277" name="Google Shape;277;p11"/>
          <p:cNvSpPr txBox="1"/>
          <p:nvPr/>
        </p:nvSpPr>
        <p:spPr>
          <a:xfrm>
            <a:off x="1028700" y="971550"/>
            <a:ext cx="5036818" cy="431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333333"/>
                </a:solidFill>
                <a:latin typeface="Public Sans"/>
                <a:ea typeface="Public Sans"/>
                <a:cs typeface="Public Sans"/>
                <a:sym typeface="Public Sans"/>
              </a:rPr>
              <a:t>Program Praktik Industri  ‘23</a:t>
            </a:r>
            <a:endParaRPr/>
          </a:p>
        </p:txBody>
      </p:sp>
      <p:cxnSp>
        <p:nvCxnSpPr>
          <p:cNvPr id="278" name="Google Shape;278;p11"/>
          <p:cNvCxnSpPr/>
          <p:nvPr/>
        </p:nvCxnSpPr>
        <p:spPr>
          <a:xfrm>
            <a:off x="1028700" y="1751768"/>
            <a:ext cx="16230600" cy="0"/>
          </a:xfrm>
          <a:prstGeom prst="straightConnector1">
            <a:avLst/>
          </a:prstGeom>
          <a:noFill/>
          <a:ln cap="flat" cmpd="sng" w="28575">
            <a:solidFill>
              <a:srgbClr val="333333"/>
            </a:solidFill>
            <a:prstDash val="solid"/>
            <a:round/>
            <a:headEnd len="sm" w="sm" type="none"/>
            <a:tailEnd len="sm" w="sm" type="none"/>
          </a:ln>
        </p:spPr>
      </p:cxnSp>
      <p:sp>
        <p:nvSpPr>
          <p:cNvPr id="279" name="Google Shape;279;p11"/>
          <p:cNvSpPr txBox="1"/>
          <p:nvPr/>
        </p:nvSpPr>
        <p:spPr>
          <a:xfrm>
            <a:off x="14434423" y="1038225"/>
            <a:ext cx="2824877" cy="4318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000000"/>
                </a:solidFill>
                <a:latin typeface="Public Sans"/>
                <a:ea typeface="Public Sans"/>
                <a:cs typeface="Public Sans"/>
                <a:sym typeface="Public Sans"/>
              </a:rPr>
              <a:t>POLMAN Bandung</a:t>
            </a:r>
            <a:endParaRPr/>
          </a:p>
        </p:txBody>
      </p:sp>
    </p:spTree>
  </p:cSld>
  <p:clrMapOvr>
    <a:masterClrMapping/>
  </p:clrMapOvr>
  <p:transition spd="med">
    <p:circle/>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